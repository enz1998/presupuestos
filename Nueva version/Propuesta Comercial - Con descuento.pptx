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11309350" cx="20104100"/>
  <p:notesSz cx="20104100" cy="11309350"/>
  <p:embeddedFontLst>
    <p:embeddedFont>
      <p:font typeface="Figtree"/>
      <p:regular r:id="rId18"/>
      <p:bold r:id="rId19"/>
      <p:italic r:id="rId20"/>
      <p:boldItalic r:id="rId21"/>
    </p:embeddedFont>
    <p:embeddedFont>
      <p:font typeface="Figtree Medium"/>
      <p:regular r:id="rId22"/>
      <p:bold r:id="rId23"/>
      <p:italic r:id="rId24"/>
      <p:boldItalic r:id="rId25"/>
    </p:embeddedFont>
    <p:embeddedFont>
      <p:font typeface="Figtree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2UhRb73auxeG3poitadc9X1ns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gtree-italic.fntdata"/><Relationship Id="rId22" Type="http://schemas.openxmlformats.org/officeDocument/2006/relationships/font" Target="fonts/FigtreeMedium-regular.fntdata"/><Relationship Id="rId21" Type="http://schemas.openxmlformats.org/officeDocument/2006/relationships/font" Target="fonts/Figtree-boldItalic.fntdata"/><Relationship Id="rId24" Type="http://schemas.openxmlformats.org/officeDocument/2006/relationships/font" Target="fonts/FigtreeMedium-italic.fntdata"/><Relationship Id="rId23" Type="http://schemas.openxmlformats.org/officeDocument/2006/relationships/font" Target="fonts/Figtree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igtreeSemiBold-regular.fntdata"/><Relationship Id="rId25" Type="http://schemas.openxmlformats.org/officeDocument/2006/relationships/font" Target="fonts/FigtreeMedium-boldItalic.fntdata"/><Relationship Id="rId28" Type="http://schemas.openxmlformats.org/officeDocument/2006/relationships/font" Target="fonts/FigtreeSemiBold-italic.fntdata"/><Relationship Id="rId27" Type="http://schemas.openxmlformats.org/officeDocument/2006/relationships/font" Target="fonts/FigtreeSemiBo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Figtree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Figtree-bold.fntdata"/><Relationship Id="rId18" Type="http://schemas.openxmlformats.org/officeDocument/2006/relationships/font" Target="fonts/Figtre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5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3364584" y="2557291"/>
            <a:ext cx="5529580" cy="630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3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5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10306286" y="2044347"/>
            <a:ext cx="8131175" cy="2732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5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5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5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5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150" u="none" cap="none" strike="noStrike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10306286" y="2044347"/>
            <a:ext cx="8131175" cy="2732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050" u="none" cap="none" strike="noStrike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Relationship Id="rId8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/>
        </p:nvSpPr>
        <p:spPr>
          <a:xfrm>
            <a:off x="5389550" y="7529356"/>
            <a:ext cx="9403410" cy="623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marR="508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Propuesta Comercial para </a:t>
            </a:r>
            <a:r>
              <a:rPr b="1" i="0" lang="es-ES" sz="3500" u="none" cap="none" strike="noStrike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[empresa]</a:t>
            </a:r>
            <a:endParaRPr b="1" i="0" sz="3500" u="none" cap="none" strike="noStrike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5" y="-36113"/>
            <a:ext cx="817850" cy="1138157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 txBox="1"/>
          <p:nvPr/>
        </p:nvSpPr>
        <p:spPr>
          <a:xfrm>
            <a:off x="-30050" y="1019572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02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0" name="Google Shape;50;p2"/>
          <p:cNvSpPr txBox="1"/>
          <p:nvPr/>
        </p:nvSpPr>
        <p:spPr>
          <a:xfrm rot="-5400000">
            <a:off x="-755900" y="824375"/>
            <a:ext cx="2345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Sobre Naaloo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51" name="Google Shape;5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8905" y="1622328"/>
            <a:ext cx="16666286" cy="8064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8236350" y="0"/>
            <a:ext cx="11867700" cy="11309400"/>
          </a:xfrm>
          <a:prstGeom prst="rect">
            <a:avLst/>
          </a:prstGeom>
          <a:solidFill>
            <a:srgbClr val="E6F3FF">
              <a:alpha val="4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" name="Google Shape;57;p3"/>
          <p:cNvSpPr txBox="1"/>
          <p:nvPr>
            <p:ph type="title"/>
          </p:nvPr>
        </p:nvSpPr>
        <p:spPr>
          <a:xfrm>
            <a:off x="1833903" y="1188967"/>
            <a:ext cx="4995521" cy="127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5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Qué </a:t>
            </a:r>
            <a:r>
              <a:rPr lang="es-ES" sz="450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beneficios </a:t>
            </a:r>
            <a:r>
              <a:rPr lang="es-ES" sz="45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vamos a ofrecer</a:t>
            </a:r>
            <a:endParaRPr sz="45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1833904" y="2875443"/>
            <a:ext cx="5548800" cy="1319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Naaloo va a simplificar tu gestión con </a:t>
            </a:r>
            <a:r>
              <a:rPr b="1" i="0" lang="es-ES" sz="2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menos carga laboral</a:t>
            </a:r>
            <a:r>
              <a:rPr b="0" i="0" lang="es-ES" sz="2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b="1" i="0" lang="es-ES" sz="2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y</a:t>
            </a:r>
            <a:r>
              <a:rPr b="0" i="0" lang="es-ES" sz="2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b="1" i="0" lang="es-ES" sz="2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mejores resultados.</a:t>
            </a:r>
            <a:endParaRPr b="0" i="0" sz="28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9290900" y="1180549"/>
            <a:ext cx="2630100" cy="2256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46228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Ahorro de hasta 60% de tiempo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33333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Reducción de horas y costos administrativos, automatizando tareas repetitivas.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9290900" y="3947750"/>
            <a:ext cx="26409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955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Mobile &amp; 24/7</a:t>
            </a:r>
            <a:endParaRPr b="0" i="0" sz="2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33333"/>
              </a:lnSpc>
              <a:spcBef>
                <a:spcPts val="142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Gestionable desde cualquier computadora o celular con Internet, las 24 hs.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12687450" y="1189275"/>
            <a:ext cx="2851800" cy="2269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112395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Comunicaciones simples y unificadas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33333"/>
              </a:lnSpc>
              <a:spcBef>
                <a:spcPts val="12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Contacta a todos los colaboradores en tiempo real, con datos de lectura y entendimiento.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16303650" y="1189275"/>
            <a:ext cx="2235900" cy="2282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64515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Gestión centralizada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33333"/>
              </a:lnSpc>
              <a:spcBef>
                <a:spcPts val="133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Toda la información e interacciones con tus equipos, en un solo lugar.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12687450" y="3999150"/>
            <a:ext cx="2865900" cy="2551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Menos tareas, menos papel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17780" rtl="0" algn="l">
              <a:lnSpc>
                <a:spcPct val="133333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Automatización y digitalización de firma de recibos (y de cualquier documento) con validez legal.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16303650" y="3796698"/>
            <a:ext cx="2550000" cy="24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900">
            <a:spAutoFit/>
          </a:bodyPr>
          <a:lstStyle/>
          <a:p>
            <a:pPr indent="0" lvl="0" marL="1270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Home Office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33333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Gestiona el trabajo remoto en el acto con fichaje, gestión de entregas y todo lo que necesitas.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9295950" y="7182525"/>
            <a:ext cx="2905200" cy="287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883285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Workflows automatizados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411480" rtl="0" algn="l">
              <a:lnSpc>
                <a:spcPct val="133333"/>
              </a:lnSpc>
              <a:spcBef>
                <a:spcPts val="119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Optimiza y agiliza la solicitud y aprobación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de ausencias, vacaciones,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248920" rtl="0" algn="just">
              <a:lnSpc>
                <a:spcPct val="133333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entregas de equipos de trabajo, capacitaciones y más.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16303650" y="7198201"/>
            <a:ext cx="27591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s-ES" sz="23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Siempre actualizada</a:t>
            </a:r>
            <a:endParaRPr b="0" i="0" sz="23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34925" rtl="0" algn="l">
              <a:lnSpc>
                <a:spcPct val="133333"/>
              </a:lnSpc>
              <a:spcBef>
                <a:spcPts val="175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Mejora continua de herramientas y funcionalidades en base a la experiencia de los usuarios, sin costo.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12655991" y="7074224"/>
            <a:ext cx="27171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955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Simple y rápida</a:t>
            </a:r>
            <a:endParaRPr b="0" i="0" sz="2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33333"/>
              </a:lnSpc>
              <a:spcBef>
                <a:spcPts val="142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s-ES" sz="195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Implementación veloz y aprendizaje intuitivo.</a:t>
            </a:r>
            <a:endParaRPr b="0" i="0" sz="195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5" y="40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 txBox="1"/>
          <p:nvPr/>
        </p:nvSpPr>
        <p:spPr>
          <a:xfrm>
            <a:off x="-27120" y="1018888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03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70" name="Google Shape;70;p3"/>
          <p:cNvSpPr txBox="1"/>
          <p:nvPr/>
        </p:nvSpPr>
        <p:spPr>
          <a:xfrm rot="-5400000">
            <a:off x="-755900" y="443375"/>
            <a:ext cx="2345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Beneficios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3341" y="5105994"/>
            <a:ext cx="6721909" cy="508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0535" y="6562126"/>
            <a:ext cx="3157778" cy="590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"/>
          <p:cNvPicPr preferRelativeResize="0"/>
          <p:nvPr/>
        </p:nvPicPr>
        <p:blipFill rotWithShape="1">
          <a:blip r:embed="rId3">
            <a:alphaModFix amt="74000"/>
          </a:blip>
          <a:srcRect b="0" l="0" r="0" t="0"/>
          <a:stretch/>
        </p:blipFill>
        <p:spPr>
          <a:xfrm>
            <a:off x="0" y="0"/>
            <a:ext cx="20104100" cy="36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>
            <p:ph type="title"/>
          </p:nvPr>
        </p:nvSpPr>
        <p:spPr>
          <a:xfrm>
            <a:off x="1846600" y="773350"/>
            <a:ext cx="6533700" cy="1345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025">
            <a:spAutoFit/>
          </a:bodyPr>
          <a:lstStyle/>
          <a:p>
            <a:pPr indent="0" lvl="0" marL="12700" marR="5080" rtl="0" algn="l">
              <a:lnSpc>
                <a:spcPct val="11463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10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¡Naaloo </a:t>
            </a:r>
            <a:r>
              <a:rPr lang="es-ES" sz="41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en números! Beneficios medibles</a:t>
            </a:r>
            <a:endParaRPr sz="41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10707100" y="936410"/>
            <a:ext cx="7697400" cy="832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Recupera tu inversión en tiempo récord y acelera </a:t>
            </a:r>
            <a:br>
              <a:rPr b="0" i="0" lang="es-ES" sz="24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b="0" i="0" lang="es-ES" sz="24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tu crecimiento desde el día uno.</a:t>
            </a:r>
            <a:endParaRPr/>
          </a:p>
        </p:txBody>
      </p:sp>
      <p:pic>
        <p:nvPicPr>
          <p:cNvPr id="80" name="Google Shape;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 txBox="1"/>
          <p:nvPr/>
        </p:nvSpPr>
        <p:spPr>
          <a:xfrm>
            <a:off x="-17560" y="1020100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04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82" name="Google Shape;82;p4"/>
          <p:cNvSpPr txBox="1"/>
          <p:nvPr/>
        </p:nvSpPr>
        <p:spPr>
          <a:xfrm rot="-5400000">
            <a:off x="-700325" y="503925"/>
            <a:ext cx="22185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Beneficios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694200" y="2959826"/>
            <a:ext cx="17581824" cy="675124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4" name="Google Shape;84;p4"/>
          <p:cNvSpPr txBox="1"/>
          <p:nvPr/>
        </p:nvSpPr>
        <p:spPr>
          <a:xfrm>
            <a:off x="1694200" y="10417214"/>
            <a:ext cx="7697400" cy="435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Fuente: </a:t>
            </a:r>
            <a:r>
              <a:rPr b="0" i="0" lang="es-ES" sz="20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Resultados de usuarios de Naaloo 2025.</a:t>
            </a:r>
            <a:endParaRPr b="0" i="0" sz="20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5"/>
          <p:cNvPicPr preferRelativeResize="0"/>
          <p:nvPr/>
        </p:nvPicPr>
        <p:blipFill rotWithShape="1">
          <a:blip r:embed="rId3">
            <a:alphaModFix amt="74000"/>
          </a:blip>
          <a:srcRect b="0" l="0" r="0" t="0"/>
          <a:stretch/>
        </p:blipFill>
        <p:spPr>
          <a:xfrm>
            <a:off x="0" y="0"/>
            <a:ext cx="20104100" cy="42556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/>
          <p:nvPr>
            <p:ph type="title"/>
          </p:nvPr>
        </p:nvSpPr>
        <p:spPr>
          <a:xfrm>
            <a:off x="1846598" y="773357"/>
            <a:ext cx="81750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025">
            <a:spAutoFit/>
          </a:bodyPr>
          <a:lstStyle/>
          <a:p>
            <a:pPr indent="0" lvl="0" marL="12700" marR="5080" rtl="0" algn="l">
              <a:lnSpc>
                <a:spcPct val="10391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10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Funcionalidades</a:t>
            </a:r>
            <a:r>
              <a:rPr lang="es-ES" sz="4100"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41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incluidas</a:t>
            </a:r>
            <a:endParaRPr sz="41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0915524" y="835305"/>
            <a:ext cx="6729600" cy="781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Herramientas simples y potentes diseñadas para llevar tu gestión al siguiente nivel.</a:t>
            </a:r>
            <a:endParaRPr b="0" i="0" sz="24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1771481" y="2713860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0" i="0" lang="es-ES" sz="245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Gestión Centralizada</a:t>
            </a:r>
            <a:endParaRPr b="0" i="0" sz="245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839886" y="3212852"/>
            <a:ext cx="3052154" cy="45719"/>
          </a:xfrm>
          <a:prstGeom prst="rect">
            <a:avLst/>
          </a:prstGeom>
          <a:solidFill>
            <a:srgbClr val="9D7E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6270838" y="2694055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0" i="0" lang="es-ES" sz="245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Procesos automatizados</a:t>
            </a:r>
            <a:endParaRPr b="0" i="0" sz="245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369723" y="3193048"/>
            <a:ext cx="3464700" cy="47926"/>
          </a:xfrm>
          <a:prstGeom prst="rect">
            <a:avLst/>
          </a:prstGeom>
          <a:solidFill>
            <a:srgbClr val="00D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10756873" y="2696275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0" i="0" lang="es-ES" sz="245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Comunicación y Equipo</a:t>
            </a:r>
            <a:endParaRPr b="0" i="0" sz="245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0825278" y="3195267"/>
            <a:ext cx="3464700" cy="45719"/>
          </a:xfrm>
          <a:prstGeom prst="rect">
            <a:avLst/>
          </a:prstGeom>
          <a:solidFill>
            <a:srgbClr val="379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5144825" y="2713848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0" i="0" lang="es-ES" sz="245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Desarrollo y Performance</a:t>
            </a:r>
            <a:endParaRPr b="0" i="0" sz="245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5244298" y="3195255"/>
            <a:ext cx="3614032" cy="45719"/>
          </a:xfrm>
          <a:prstGeom prst="rect">
            <a:avLst/>
          </a:prstGeom>
          <a:solidFill>
            <a:srgbClr val="FFCD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0" name="Google Shape;10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5" y="40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 txBox="1"/>
          <p:nvPr/>
        </p:nvSpPr>
        <p:spPr>
          <a:xfrm>
            <a:off x="-27120" y="1019572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05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 rot="-5400000">
            <a:off x="-1058900" y="877750"/>
            <a:ext cx="2951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Funcionalidades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103" name="Google Shape;10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96272" y="3696367"/>
            <a:ext cx="16276302" cy="603491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 txBox="1"/>
          <p:nvPr/>
        </p:nvSpPr>
        <p:spPr>
          <a:xfrm>
            <a:off x="2330539" y="10442194"/>
            <a:ext cx="6729600" cy="4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152F72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Funcionalidad bonificada</a:t>
            </a:r>
            <a:endParaRPr b="0" i="0" sz="2200" u="none" cap="none" strike="noStrike">
              <a:solidFill>
                <a:srgbClr val="152F72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05" name="Google Shape;10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81854" y="4899308"/>
            <a:ext cx="346560" cy="35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743718" y="3862657"/>
            <a:ext cx="346560" cy="35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9886" y="10470881"/>
            <a:ext cx="346560" cy="35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1903687" y="2072640"/>
            <a:ext cx="8060388" cy="8696860"/>
          </a:xfrm>
          <a:prstGeom prst="roundRect">
            <a:avLst>
              <a:gd fmla="val 4639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2061870" y="8448675"/>
            <a:ext cx="7744022" cy="2152989"/>
          </a:xfrm>
          <a:prstGeom prst="roundRect">
            <a:avLst>
              <a:gd fmla="val 1024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0629468" y="2072640"/>
            <a:ext cx="8060388" cy="8696860"/>
          </a:xfrm>
          <a:prstGeom prst="roundRect">
            <a:avLst>
              <a:gd fmla="val 4639" name="adj"/>
            </a:avLst>
          </a:prstGeom>
          <a:solidFill>
            <a:srgbClr val="EAF4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5" name="Google Shape;115;p6"/>
          <p:cNvSpPr txBox="1"/>
          <p:nvPr>
            <p:ph type="title"/>
          </p:nvPr>
        </p:nvSpPr>
        <p:spPr>
          <a:xfrm>
            <a:off x="1903687" y="762931"/>
            <a:ext cx="642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38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Propuesta </a:t>
            </a:r>
            <a:r>
              <a:rPr lang="es-ES" sz="380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sz="39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13392150" y="814364"/>
            <a:ext cx="5235000" cy="448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b="1" i="0" lang="es-ES" sz="2800" u="none" cap="none" strike="noStrike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Fecha: </a:t>
            </a:r>
            <a:r>
              <a:rPr b="0" i="0" lang="es-ES" sz="2800" u="none" cap="none" strike="noStrike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15/10/25</a:t>
            </a:r>
            <a:endParaRPr b="0" i="0" sz="28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2914790" y="4315422"/>
            <a:ext cx="60708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400">
            <a:spAutoFit/>
          </a:bodyPr>
          <a:lstStyle/>
          <a:p>
            <a:pPr indent="0" lvl="0" marL="0" marR="42545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1400"/>
              <a:buNone/>
            </a:pPr>
            <a:r>
              <a:rPr b="0"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Cantidad de usuarios: 350  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2914761" y="5053999"/>
            <a:ext cx="60708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5400">
            <a:noAutofit/>
          </a:bodyPr>
          <a:lstStyle/>
          <a:p>
            <a:pPr indent="0" lvl="0" marL="0" marR="5416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Almacenamiento disponible: 20 GB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9" name="Google Shape;119;p6"/>
          <p:cNvSpPr txBox="1"/>
          <p:nvPr>
            <p:ph type="title"/>
          </p:nvPr>
        </p:nvSpPr>
        <p:spPr>
          <a:xfrm>
            <a:off x="2441702" y="2496232"/>
            <a:ext cx="41475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09775">
            <a:noAutofit/>
          </a:bodyPr>
          <a:lstStyle/>
          <a:p>
            <a:pPr indent="0" lvl="0" marL="419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7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Licencia Software</a:t>
            </a:r>
            <a:endParaRPr sz="27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2508494" y="8993123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5575">
            <a:spAutoFit/>
          </a:bodyPr>
          <a:lstStyle/>
          <a:p>
            <a:pPr indent="0" lvl="0" marL="1270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ES" sz="21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Valor Licencia:  </a:t>
            </a:r>
            <a:r>
              <a:rPr b="0" i="0" lang="es-ES" sz="21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$154.000 + IVA </a:t>
            </a:r>
            <a:endParaRPr b="0" i="0" sz="21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2914801" y="3239580"/>
            <a:ext cx="68259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400">
            <a:spAutoFit/>
          </a:bodyPr>
          <a:lstStyle/>
          <a:p>
            <a:pPr indent="0" lvl="0" marL="0" marR="42545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Sistema de gestión de RRHH con los módulos especificados.    </a:t>
            </a:r>
            <a:endParaRPr b="0"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6800" y="3523876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6800" y="4609902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6800" y="5266304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8750"/>
            <a:ext cx="817850" cy="1136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 txBox="1"/>
          <p:nvPr/>
        </p:nvSpPr>
        <p:spPr>
          <a:xfrm>
            <a:off x="-24895" y="10193765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06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27" name="Google Shape;127;p6"/>
          <p:cNvSpPr txBox="1"/>
          <p:nvPr/>
        </p:nvSpPr>
        <p:spPr>
          <a:xfrm rot="-5400000">
            <a:off x="-1116425" y="1021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Propuesta Naaloo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11649228" y="4223990"/>
            <a:ext cx="64077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400">
            <a:spAutoFit/>
          </a:bodyPr>
          <a:lstStyle/>
          <a:p>
            <a:pPr indent="0" lvl="0" marL="0" marR="42545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1400"/>
              <a:buNone/>
            </a:pPr>
            <a:r>
              <a:rPr b="0"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Creación de base de datos y parametrización de la plataforma.</a:t>
            </a:r>
            <a:endParaRPr b="0"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11649225" y="5372240"/>
            <a:ext cx="64077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5400">
            <a:noAutofit/>
          </a:bodyPr>
          <a:lstStyle/>
          <a:p>
            <a:pPr indent="0" lvl="0" marL="0" marR="5416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Alta y notificación del personal con usuarios y claves.</a:t>
            </a:r>
            <a:endParaRPr b="0"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6"/>
          <p:cNvSpPr txBox="1"/>
          <p:nvPr>
            <p:ph type="title"/>
          </p:nvPr>
        </p:nvSpPr>
        <p:spPr>
          <a:xfrm>
            <a:off x="11204104" y="2458130"/>
            <a:ext cx="6401906" cy="52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09775">
            <a:noAutofit/>
          </a:bodyPr>
          <a:lstStyle/>
          <a:p>
            <a:pPr indent="0" lvl="0" marL="419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7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Onboarding inmediato y Capacitación</a:t>
            </a:r>
            <a:endParaRPr sz="27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11649250" y="3239580"/>
            <a:ext cx="64257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400">
            <a:spAutoFit/>
          </a:bodyPr>
          <a:lstStyle/>
          <a:p>
            <a:pPr indent="0" lvl="0" marL="0" marR="42545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1400"/>
              <a:buNone/>
            </a:pPr>
            <a:r>
              <a:rPr b="0"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Personalización del diseño en base a la identidad de la compañía.</a:t>
            </a:r>
            <a:endParaRPr b="0"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250" y="3535876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250" y="4518462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250" y="554676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11649200" y="6398365"/>
            <a:ext cx="694741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5400">
            <a:noAutofit/>
          </a:bodyPr>
          <a:lstStyle/>
          <a:p>
            <a:pPr indent="0" lvl="0" marL="0" marR="5416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2 (dos) sesiones de capacitación en todas las funcionalidades de Naaloo para administradores.</a:t>
            </a:r>
            <a:endParaRPr b="0"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marR="5416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250" y="655410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2914750" y="5663355"/>
            <a:ext cx="68259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5400">
            <a:noAutofit/>
          </a:bodyPr>
          <a:lstStyle/>
          <a:p>
            <a:pPr indent="0" lvl="0" marL="0" marR="5416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Módulo de Gestión de Desempeño: </a:t>
            </a:r>
            <a:r>
              <a:rPr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Bonificado.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6800" y="605955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>
            <p:ph idx="1" type="body"/>
          </p:nvPr>
        </p:nvSpPr>
        <p:spPr>
          <a:xfrm>
            <a:off x="2914801" y="6623630"/>
            <a:ext cx="60708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5400">
            <a:noAutofit/>
          </a:bodyPr>
          <a:lstStyle/>
          <a:p>
            <a:pPr indent="0" lvl="0" marL="0" marR="5416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Módulo de Reclutamiento: </a:t>
            </a:r>
            <a:r>
              <a:rPr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Bonificado.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6800" y="6868879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5388257" y="9957969"/>
            <a:ext cx="4147500" cy="45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5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Recurso excedente: $2.400 + IVA</a:t>
            </a:r>
            <a:endParaRPr b="0" i="0" sz="16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5171228" y="9150339"/>
            <a:ext cx="3067200" cy="526532"/>
          </a:xfrm>
          <a:prstGeom prst="roundRect">
            <a:avLst>
              <a:gd fmla="val 17480" name="adj"/>
            </a:avLst>
          </a:prstGeom>
          <a:solidFill>
            <a:srgbClr val="F2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11684372" y="7567907"/>
            <a:ext cx="6407700" cy="312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45400">
            <a:noAutofit/>
          </a:bodyPr>
          <a:lstStyle/>
          <a:p>
            <a:pPr indent="0" lvl="0" marL="0" marR="5416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Soporte especial por WhatsApp por 30 días.</a:t>
            </a:r>
            <a:endParaRPr b="0"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250" y="7672379"/>
            <a:ext cx="233794" cy="241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6"/>
          <p:cNvCxnSpPr/>
          <p:nvPr/>
        </p:nvCxnSpPr>
        <p:spPr>
          <a:xfrm flipH="1" rot="10800000">
            <a:off x="4461926" y="9384096"/>
            <a:ext cx="1919743" cy="43631"/>
          </a:xfrm>
          <a:prstGeom prst="straightConnector1">
            <a:avLst/>
          </a:prstGeom>
          <a:noFill/>
          <a:ln cap="flat" cmpd="sng" w="19050">
            <a:solidFill>
              <a:srgbClr val="3AA0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6"/>
          <p:cNvSpPr txBox="1"/>
          <p:nvPr/>
        </p:nvSpPr>
        <p:spPr>
          <a:xfrm>
            <a:off x="6542521" y="9023009"/>
            <a:ext cx="2462090" cy="543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5575">
            <a:spAutoFit/>
          </a:bodyPr>
          <a:lstStyle/>
          <a:p>
            <a:pPr indent="0" lvl="0" marL="1270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1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$115.500 + IVA</a:t>
            </a:r>
            <a:endParaRPr b="0" i="0" sz="21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453558" y="8201026"/>
            <a:ext cx="4960646" cy="521455"/>
          </a:xfrm>
          <a:prstGeom prst="roundRect">
            <a:avLst>
              <a:gd fmla="val 50000" name="adj"/>
            </a:avLst>
          </a:prstGeom>
          <a:solidFill>
            <a:srgbClr val="3AA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3972142" y="8108769"/>
            <a:ext cx="3921966" cy="505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5575">
            <a:spAutoFit/>
          </a:bodyPr>
          <a:lstStyle/>
          <a:p>
            <a:pPr indent="0" lvl="0" marL="1270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ES" sz="2100" u="none" cap="none" strike="noStrike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Descuento de 25% por 3 meses</a:t>
            </a:r>
            <a:endParaRPr b="0" i="0" sz="2100" u="none" cap="none" strike="noStrike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539852" y="9165778"/>
            <a:ext cx="2445709" cy="435199"/>
          </a:xfrm>
          <a:prstGeom prst="roundRect">
            <a:avLst>
              <a:gd fmla="val 25772" name="adj"/>
            </a:avLst>
          </a:prstGeom>
          <a:noFill/>
          <a:ln cap="flat" cmpd="sng" w="19050">
            <a:solidFill>
              <a:srgbClr val="3AA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2504900" y="9568696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5575">
            <a:spAutoFit/>
          </a:bodyPr>
          <a:lstStyle/>
          <a:p>
            <a:pPr indent="0" lvl="0" marL="1270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ES" sz="2100" u="none" cap="none" strike="noStrike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Frecuencia: </a:t>
            </a:r>
            <a:r>
              <a:rPr b="1" i="0" lang="es-ES" sz="2100" u="none" cap="none" strike="noStrike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Mensual</a:t>
            </a:r>
            <a:endParaRPr b="1" i="0" sz="2100" u="none" cap="none" strike="noStrike">
              <a:solidFill>
                <a:srgbClr val="3AA0F8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0787651" y="8800179"/>
            <a:ext cx="7744022" cy="1801485"/>
          </a:xfrm>
          <a:prstGeom prst="roundRect">
            <a:avLst>
              <a:gd fmla="val 1024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11251229" y="9028678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5575">
            <a:spAutoFit/>
          </a:bodyPr>
          <a:lstStyle/>
          <a:p>
            <a:pPr indent="0" lvl="0" marL="1270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ES" sz="21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Valor total: </a:t>
            </a:r>
            <a:r>
              <a:rPr b="0" i="0" lang="es-ES" sz="21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</a:t>
            </a:r>
            <a:endParaRPr b="0" i="0" sz="21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11279687" y="9565778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5575">
            <a:spAutoFit/>
          </a:bodyPr>
          <a:lstStyle/>
          <a:p>
            <a:pPr indent="0" lvl="0" marL="1270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ES" sz="2100" u="none" cap="none" strike="noStrike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Frecuencia: </a:t>
            </a:r>
            <a:r>
              <a:rPr b="1" i="0" lang="es-ES" sz="2100" u="none" cap="none" strike="noStrike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Única vez</a:t>
            </a:r>
            <a:endParaRPr b="1" i="0" sz="2100" u="none" cap="none" strike="noStrike">
              <a:solidFill>
                <a:srgbClr val="3AA0F8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0" y="1996550"/>
            <a:ext cx="20125500" cy="9388800"/>
          </a:xfrm>
          <a:prstGeom prst="rect">
            <a:avLst/>
          </a:prstGeom>
          <a:solidFill>
            <a:srgbClr val="E6F3FF">
              <a:alpha val="4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1799875" y="656700"/>
            <a:ext cx="101931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385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Especificaciones </a:t>
            </a:r>
            <a:r>
              <a:rPr lang="es-ES" sz="385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Propuesta Naaloo</a:t>
            </a:r>
            <a:endParaRPr sz="3850">
              <a:solidFill>
                <a:srgbClr val="152F72"/>
              </a:solidFill>
            </a:endParaRPr>
          </a:p>
        </p:txBody>
      </p:sp>
      <p:sp>
        <p:nvSpPr>
          <p:cNvPr id="160" name="Google Shape;160;p7"/>
          <p:cNvSpPr txBox="1"/>
          <p:nvPr>
            <p:ph idx="1" type="body"/>
          </p:nvPr>
        </p:nvSpPr>
        <p:spPr>
          <a:xfrm>
            <a:off x="1799875" y="2778865"/>
            <a:ext cx="8117700" cy="81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Impuestos y moneda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Los valores presupuestados no incluyen IVA y la moneda de pago es pesos argentinos. 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Factura inicial y activación de la cuenta 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Una vez aceptada la propuesta y recibida la información solicitada, el equipo de Administración procesará el alta y enviará la factura inicial correspondiente. La factura tiene una vigencia de 5 días hábiles para mantener las condiciones comerciales acordadas. Con el pago, comienza la activación de la cuenta: el equipo de Activación se contactará dentro de las 24 horas para coordinar la reunión de inicio y dar curso a la implementación. La implementación no tiene costo. 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Facturación recurrente de la licencia mensual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 partir de la confirmación del cobro de la factura inicial, el servicio se considera activo y comienza el ciclo de facturación mensual y recurrente. El día 01 de cada mes recibirán por correo electrónico la factura correspondiente y deberá ser abonada sin excepciones. Condiciones de pago: 10 días ff. La mora se producirá de forma automática al día siguiente de cumplirse dicho plazo.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Condiciones de la propuesta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El plazo de validez de esta propuesta es de 15 días a partir de su emisión. 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9067" y="727950"/>
            <a:ext cx="1636959" cy="47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7"/>
          <p:cNvGrpSpPr/>
          <p:nvPr/>
        </p:nvGrpSpPr>
        <p:grpSpPr>
          <a:xfrm>
            <a:off x="-24895" y="-159500"/>
            <a:ext cx="842746" cy="11474140"/>
            <a:chOff x="-24895" y="-159500"/>
            <a:chExt cx="842746" cy="11474140"/>
          </a:xfrm>
        </p:grpSpPr>
        <p:pic>
          <p:nvPicPr>
            <p:cNvPr id="163" name="Google Shape;163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5289"/>
              <a:ext cx="817851" cy="11309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7"/>
            <p:cNvSpPr txBox="1"/>
            <p:nvPr/>
          </p:nvSpPr>
          <p:spPr>
            <a:xfrm>
              <a:off x="-24895" y="10211350"/>
              <a:ext cx="817800" cy="94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ES" sz="2000" u="none" cap="none" strike="noStrike">
                  <a:solidFill>
                    <a:srgbClr val="152F72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 07</a:t>
              </a:r>
              <a:endParaRPr b="0" i="0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65" name="Google Shape;165;p7"/>
            <p:cNvSpPr txBox="1"/>
            <p:nvPr/>
          </p:nvSpPr>
          <p:spPr>
            <a:xfrm rot="-5400000">
              <a:off x="-1116425" y="1021450"/>
              <a:ext cx="3050700" cy="68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s-ES" sz="2200" u="none" cap="none" strike="noStrike">
                  <a:solidFill>
                    <a:srgbClr val="3AA0F8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Propuesta Naaloo</a:t>
              </a:r>
              <a:endParaRPr b="0" i="0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66" name="Google Shape;166;p7"/>
          <p:cNvSpPr txBox="1"/>
          <p:nvPr>
            <p:ph idx="1" type="body"/>
          </p:nvPr>
        </p:nvSpPr>
        <p:spPr>
          <a:xfrm>
            <a:off x="10899600" y="2778875"/>
            <a:ext cx="8117700" cy="7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Descuentos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Por medio de pago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Obtén un 10% de descuento en tu presupuesto al adherirse al débito automático.</a:t>
            </a:r>
            <a:endParaRPr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Por pago anticipado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Si abonas de forma anticipada, obtendrás: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• 15% de descuento al pagar un año completo.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• 20% de descuento por dos años.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• 25% de descuento por tres años.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*No se ofrece reembolso si se decide dejar de usar la suscripción a Naaloo durante el Plazo de Suscripción.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Actualización de tarifas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Los valores se actualizarán trimestralmente en enero, abril, julio y octubre, según la variación del IPC publicado por el INDEC.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Actualización tecnológica (I+D)</a:t>
            </a:r>
            <a:endParaRPr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Naaloo incorpora nuevas funcionalidades, mejoras y actualizaciones de forma permanente, todas están incluidas en tu licencia y sin costo por módulo. Para sostener esa evolución, en Julio y Enero se cobrará de manera única un 5% sobre la licencia mensual, adicional a la actualización por IPC. 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8"/>
          <p:cNvPicPr preferRelativeResize="0"/>
          <p:nvPr/>
        </p:nvPicPr>
        <p:blipFill rotWithShape="1">
          <a:blip r:embed="rId3">
            <a:alphaModFix amt="66000"/>
          </a:blip>
          <a:srcRect b="0" l="0" r="0" t="0"/>
          <a:stretch/>
        </p:blipFill>
        <p:spPr>
          <a:xfrm rot="10800000">
            <a:off x="457202" y="-401"/>
            <a:ext cx="19646898" cy="1131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 txBox="1"/>
          <p:nvPr/>
        </p:nvSpPr>
        <p:spPr>
          <a:xfrm>
            <a:off x="2477150" y="3635219"/>
            <a:ext cx="4515600" cy="2024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1925">
            <a:spAutoFit/>
          </a:bodyPr>
          <a:lstStyle/>
          <a:p>
            <a:pPr indent="0" lvl="0" marL="12700" marR="5080" rtl="0" algn="l">
              <a:lnSpc>
                <a:spcPct val="103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s-ES" sz="68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Tu camino con </a:t>
            </a:r>
            <a:r>
              <a:rPr b="1" i="0" lang="es-ES" sz="6800" u="none" cap="none" strike="noStrike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b="0" i="0" sz="68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2477150" y="6110329"/>
            <a:ext cx="5048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s-ES" sz="37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Timeline de implementación</a:t>
            </a:r>
            <a:endParaRPr b="0" i="0" sz="37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5" y="-88500"/>
            <a:ext cx="817850" cy="1139824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 txBox="1"/>
          <p:nvPr/>
        </p:nvSpPr>
        <p:spPr>
          <a:xfrm>
            <a:off x="-27420" y="1018888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08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6" name="Google Shape;176;p8"/>
          <p:cNvSpPr txBox="1"/>
          <p:nvPr/>
        </p:nvSpPr>
        <p:spPr>
          <a:xfrm rot="-5400000">
            <a:off x="-1058900" y="888700"/>
            <a:ext cx="2951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Implementación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599516" y="-88500"/>
            <a:ext cx="13028948" cy="1148674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/>
          <p:nvPr>
            <p:ph type="title"/>
          </p:nvPr>
        </p:nvSpPr>
        <p:spPr>
          <a:xfrm>
            <a:off x="1708772" y="1286350"/>
            <a:ext cx="82473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Te acompañamos en </a:t>
            </a:r>
            <a:r>
              <a:rPr lang="es-ES" sz="400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cada paso</a:t>
            </a:r>
            <a:endParaRPr sz="4000">
              <a:solidFill>
                <a:srgbClr val="379DF6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9500"/>
            <a:ext cx="817850" cy="114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 txBox="1"/>
          <p:nvPr/>
        </p:nvSpPr>
        <p:spPr>
          <a:xfrm>
            <a:off x="10275" y="10193765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09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85" name="Google Shape;185;p9"/>
          <p:cNvSpPr txBox="1"/>
          <p:nvPr/>
        </p:nvSpPr>
        <p:spPr>
          <a:xfrm rot="-5400000">
            <a:off x="-1116425" y="308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Propuesta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186" name="Google Shape;18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80917" y="1318500"/>
            <a:ext cx="1636959" cy="4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08772" y="3437692"/>
            <a:ext cx="17509104" cy="6402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/>
        </p:nvSpPr>
        <p:spPr>
          <a:xfrm>
            <a:off x="-50" y="-83250"/>
            <a:ext cx="20104200" cy="11468700"/>
          </a:xfrm>
          <a:prstGeom prst="rect">
            <a:avLst/>
          </a:prstGeom>
          <a:solidFill>
            <a:srgbClr val="E6F3FF">
              <a:alpha val="4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3" name="Google Shape;193;p10"/>
          <p:cNvSpPr txBox="1"/>
          <p:nvPr>
            <p:ph type="title"/>
          </p:nvPr>
        </p:nvSpPr>
        <p:spPr>
          <a:xfrm>
            <a:off x="1697576" y="1687750"/>
            <a:ext cx="8537400" cy="1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025">
            <a:spAutoFit/>
          </a:bodyPr>
          <a:lstStyle/>
          <a:p>
            <a:pPr indent="0" lvl="0" marL="12700" marR="5080" rtl="0" algn="l">
              <a:lnSpc>
                <a:spcPct val="11463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1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¡Sumarte tiene un </a:t>
            </a:r>
            <a:r>
              <a:rPr lang="es-ES" sz="4100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impacto </a:t>
            </a:r>
            <a:endParaRPr sz="4100">
              <a:solidFill>
                <a:srgbClr val="379FF8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1463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100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positivo</a:t>
            </a:r>
            <a:r>
              <a:rPr lang="es-ES" sz="41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para el mundo!</a:t>
            </a:r>
            <a:endParaRPr sz="41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10770610" y="1792227"/>
            <a:ext cx="85053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152F72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Sabemos que no solo quieres mejorar a tu equipo, quieres cambiar el planeta y Naaloo lo lleva en su ADN. Por eso, cuando te unes a nuestra comunidad, estás haciendo mucho más que mejorar tu gestión. ¡Mira!</a:t>
            </a:r>
            <a:endParaRPr b="0" i="0" sz="2200" u="none" cap="none" strike="noStrike">
              <a:solidFill>
                <a:srgbClr val="152F72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95" name="Google Shape;1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8000" y="4073836"/>
            <a:ext cx="8575896" cy="647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00052" y="4073836"/>
            <a:ext cx="8575896" cy="647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141915"/>
            <a:ext cx="817850" cy="114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 txBox="1"/>
          <p:nvPr/>
        </p:nvSpPr>
        <p:spPr>
          <a:xfrm>
            <a:off x="-35445" y="1021135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10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 rot="-5400000">
            <a:off x="-1116425" y="640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Bosque Naaloo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200" name="Google Shape;20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73775" y="785100"/>
            <a:ext cx="1541925" cy="4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06" y="0"/>
            <a:ext cx="20105512" cy="113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445" y="0"/>
            <a:ext cx="1032244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2"/>
          <p:cNvSpPr txBox="1"/>
          <p:nvPr>
            <p:ph type="title"/>
          </p:nvPr>
        </p:nvSpPr>
        <p:spPr>
          <a:xfrm>
            <a:off x="2043215" y="976718"/>
            <a:ext cx="5169408" cy="962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882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34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Tu experiencia es nuestra </a:t>
            </a:r>
            <a:r>
              <a:rPr lang="es-ES" sz="340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prioridad</a:t>
            </a:r>
            <a:endParaRPr sz="3400">
              <a:solidFill>
                <a:srgbClr val="3AA0F8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12" name="Google Shape;2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1785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2"/>
          <p:cNvSpPr txBox="1"/>
          <p:nvPr/>
        </p:nvSpPr>
        <p:spPr>
          <a:xfrm>
            <a:off x="-35445" y="1021135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12</a:t>
            </a:r>
            <a:endParaRPr b="0" i="0" sz="2000" u="none" cap="none" strike="noStrik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 rot="-5400000">
            <a:off x="-1116425" y="1021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Nuestros clientes</a:t>
            </a:r>
            <a:endParaRPr b="0" i="0" sz="2200" u="none" cap="none" strike="noStrik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11600168" y="995768"/>
            <a:ext cx="6116332" cy="963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Nuestros usuarios recomiendan</a:t>
            </a:r>
            <a:r>
              <a:rPr b="1" i="0" lang="es-ES" sz="3400" u="none" cap="none" strike="noStrike">
                <a:solidFill>
                  <a:srgbClr val="151515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b="1" i="0" lang="es-ES" sz="3400" u="none" cap="none" strike="noStrik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b="0" i="0" sz="3400" u="none" cap="none" strike="noStrik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1876503" y="10552973"/>
            <a:ext cx="813435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Fuente: Encuesta anual de satisfacción Naaloo 2025.</a:t>
            </a:r>
            <a:endParaRPr b="0" i="0" sz="1600" u="none" cap="none" strike="noStrike">
              <a:solidFill>
                <a:srgbClr val="001F4E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17" name="Google Shape;21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72875" y="2614124"/>
            <a:ext cx="2581462" cy="3496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04059" y="2596539"/>
            <a:ext cx="2756303" cy="382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55290" y="7045835"/>
            <a:ext cx="7522817" cy="2676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600168" y="6273991"/>
            <a:ext cx="7104002" cy="390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30069" y="2492457"/>
            <a:ext cx="5703007" cy="2776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/>
          <p:nvPr/>
        </p:nvSpPr>
        <p:spPr>
          <a:xfrm>
            <a:off x="9158600" y="-112850"/>
            <a:ext cx="10945500" cy="11422200"/>
          </a:xfrm>
          <a:prstGeom prst="rect">
            <a:avLst/>
          </a:prstGeom>
          <a:solidFill>
            <a:srgbClr val="E6F3FF">
              <a:alpha val="4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7" name="Google Shape;227;p13"/>
          <p:cNvSpPr txBox="1"/>
          <p:nvPr>
            <p:ph type="title"/>
          </p:nvPr>
        </p:nvSpPr>
        <p:spPr>
          <a:xfrm>
            <a:off x="1625775" y="2125300"/>
            <a:ext cx="6102600" cy="141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12700" marR="5080" rtl="0" algn="l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500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Desbloquea</a:t>
            </a:r>
            <a:r>
              <a:rPr lang="es-ES" sz="5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el siguiente nivel</a:t>
            </a:r>
            <a:endParaRPr sz="5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1632900" y="4040925"/>
            <a:ext cx="5821500" cy="28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09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ES" sz="2600" u="none" cap="none" strike="noStrik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Estamos listos para acompañarte en esta transformación. Solo necesitamos tu OK, y nuestro equipo se encargará de que la implementación sea simple y efectiva desde el primer día.</a:t>
            </a:r>
            <a:endParaRPr b="0" i="0" sz="26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marR="5080" rtl="0" algn="l">
              <a:lnSpc>
                <a:spcPct val="11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29" name="Google Shape;2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725" y="7170148"/>
            <a:ext cx="2832500" cy="7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90075" y="-1553674"/>
            <a:ext cx="7820751" cy="1441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3725" y="8766572"/>
            <a:ext cx="3543977" cy="61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1515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</dc:creator>
</cp:coreProperties>
</file>