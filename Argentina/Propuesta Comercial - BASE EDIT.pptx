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16"/>
  </p:notesMasterIdLst>
  <p:sldIdLst>
    <p:sldId id="269" r:id="rId2"/>
    <p:sldId id="257" r:id="rId3"/>
    <p:sldId id="258" r:id="rId4"/>
    <p:sldId id="259" r:id="rId5"/>
    <p:sldId id="261" r:id="rId6"/>
    <p:sldId id="262" r:id="rId7"/>
    <p:sldId id="270" r:id="rId8"/>
    <p:sldId id="264" r:id="rId9"/>
    <p:sldId id="260" r:id="rId10"/>
    <p:sldId id="263" r:id="rId11"/>
    <p:sldId id="265" r:id="rId12"/>
    <p:sldId id="266" r:id="rId13"/>
    <p:sldId id="267" r:id="rId14"/>
    <p:sldId id="268" r:id="rId15"/>
  </p:sldIdLst>
  <p:sldSz cx="20104100" cy="11309350"/>
  <p:notesSz cx="20104100" cy="1130935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Figtree Medium" pitchFamily="2" charset="0"/>
      <p:regular r:id="rId25"/>
      <p:bold r:id="rId26"/>
      <p:italic r:id="rId27"/>
      <p:boldItalic r:id="rId28"/>
    </p:embeddedFont>
    <p:embeddedFont>
      <p:font typeface="Figtree" pitchFamily="2" charset="0"/>
      <p:regular r:id="rId29"/>
      <p:bold r:id="rId30"/>
      <p:italic r:id="rId31"/>
      <p:boldItalic r:id="rId32"/>
    </p:embeddedFont>
    <p:embeddedFont>
      <p:font typeface="Figtree SemiBold" pitchFamily="2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FE"/>
    <a:srgbClr val="F1F7FF"/>
    <a:srgbClr val="E5F5FF"/>
    <a:srgbClr val="001F4E"/>
    <a:srgbClr val="DBEEFD"/>
    <a:srgbClr val="ECF6FE"/>
    <a:srgbClr val="3AA0F8"/>
    <a:srgbClr val="D7ECFD"/>
    <a:srgbClr val="CCE6FC"/>
    <a:srgbClr val="F2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>
        <p:scale>
          <a:sx n="40" d="100"/>
          <a:sy n="40" d="100"/>
        </p:scale>
        <p:origin x="1219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8349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cd1819c35_0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32cd1819c3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70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99e7f2fdf_1_0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g3299e7f2fd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364584" y="2557291"/>
            <a:ext cx="5529580" cy="630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3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645268" y="1285346"/>
            <a:ext cx="4368165" cy="12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150" b="1" i="0" u="none" strike="noStrike" cap="non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06286" y="2044347"/>
            <a:ext cx="8131175" cy="273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50" b="1" i="0" u="none" strike="noStrike" cap="none">
                <a:solidFill>
                  <a:srgbClr val="151515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emf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9">
            <a:extLst>
              <a:ext uri="{FF2B5EF4-FFF2-40B4-BE49-F238E27FC236}">
                <a16:creationId xmlns:a16="http://schemas.microsoft.com/office/drawing/2014/main" id="{0752F877-6160-34FD-0395-227B1E066399}"/>
              </a:ext>
            </a:extLst>
          </p:cNvPr>
          <p:cNvSpPr txBox="1"/>
          <p:nvPr/>
        </p:nvSpPr>
        <p:spPr>
          <a:xfrm>
            <a:off x="5389550" y="7529356"/>
            <a:ext cx="9403410" cy="62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marR="508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500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Propuesta Comercial para </a:t>
            </a:r>
            <a:r>
              <a:rPr lang="es-ES" sz="3500" b="1" dirty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[empresa]</a:t>
            </a:r>
            <a:endParaRPr sz="3500" b="1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127007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" y="-36113"/>
            <a:ext cx="817850" cy="113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/>
        </p:nvSpPr>
        <p:spPr>
          <a:xfrm>
            <a:off x="-3005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02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2" name="Google Shape;52;p8"/>
          <p:cNvSpPr txBox="1"/>
          <p:nvPr/>
        </p:nvSpPr>
        <p:spPr>
          <a:xfrm rot="-5400000">
            <a:off x="-755900" y="824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Sobre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905" y="1622328"/>
            <a:ext cx="16666286" cy="80646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8236350" y="0"/>
            <a:ext cx="11867700" cy="113094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833903" y="1188967"/>
            <a:ext cx="4995521" cy="127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>
              <a:lnSpc>
                <a:spcPts val="4800"/>
              </a:lnSpc>
            </a:pPr>
            <a:r>
              <a:rPr lang="es-MX" sz="45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Qué </a:t>
            </a:r>
            <a:r>
              <a:rPr lang="es-MX" sz="4500" dirty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beneficios </a:t>
            </a:r>
            <a:r>
              <a:rPr lang="es-MX" sz="45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vamos a </a:t>
            </a:r>
            <a:r>
              <a:rPr lang="es-MX" sz="45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ofrecer</a:t>
            </a:r>
            <a:endParaRPr sz="45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1833904" y="2875443"/>
            <a:ext cx="5548800" cy="1319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0" rIns="0" bIns="0" anchor="t" anchorCtr="0">
            <a:spAutoFit/>
          </a:bodyPr>
          <a:lstStyle/>
          <a:p>
            <a:pPr marL="12700" marR="508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 </a:t>
            </a:r>
            <a:r>
              <a:rPr lang="es-ES" sz="2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 a simplificar tu gestión con </a:t>
            </a:r>
            <a:r>
              <a:rPr lang="es-ES" sz="2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menos carga laboral</a:t>
            </a:r>
            <a:r>
              <a:rPr lang="es-ES" sz="2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</a:t>
            </a:r>
            <a:r>
              <a:rPr lang="es-ES" sz="2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mejores resultados.</a:t>
            </a:r>
            <a:endParaRPr sz="28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9290900" y="1180549"/>
            <a:ext cx="2630100" cy="2256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46228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Ahorro de hasta 60% de tiempo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Reducción de horas y costos administrativos, automatizando tareas repetitivas.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2" name="Google Shape;62;p9"/>
          <p:cNvSpPr txBox="1"/>
          <p:nvPr/>
        </p:nvSpPr>
        <p:spPr>
          <a:xfrm>
            <a:off x="9290900" y="3947750"/>
            <a:ext cx="26409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550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Mobile &amp; 24/7</a:t>
            </a:r>
            <a:endParaRPr sz="24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42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Gestionable desde cualquier computadora o celular con Internet, las 24 </a:t>
            </a:r>
            <a:r>
              <a:rPr lang="es-ES" sz="1950" dirty="0" err="1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hs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12687450" y="1189275"/>
            <a:ext cx="2851800" cy="2269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112395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Comunicaciones simples y unificadas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210"/>
              </a:spcBef>
              <a:spcAft>
                <a:spcPts val="0"/>
              </a:spcAft>
              <a:buNone/>
            </a:pP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Contacta 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 todos los colaboradores en tiempo real, con datos de lectura y entendimiento.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16303650" y="1189275"/>
            <a:ext cx="2235900" cy="228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64515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Gestión centralizada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33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Toda la información e interacciones con tus equipos, en un solo lugar.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5" name="Google Shape;65;p9"/>
          <p:cNvSpPr txBox="1"/>
          <p:nvPr/>
        </p:nvSpPr>
        <p:spPr>
          <a:xfrm>
            <a:off x="12687450" y="3999150"/>
            <a:ext cx="2865900" cy="255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Menos tareas, menos papel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17780" lvl="0" indent="0" algn="l" rtl="0">
              <a:lnSpc>
                <a:spcPts val="2600"/>
              </a:lnSpc>
              <a:spcBef>
                <a:spcPts val="74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Automatización y digitalización de firma de recibos (y de cualquier documento) con validez legal.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6" name="Google Shape;66;p9"/>
          <p:cNvSpPr txBox="1"/>
          <p:nvPr/>
        </p:nvSpPr>
        <p:spPr>
          <a:xfrm>
            <a:off x="16303650" y="3796698"/>
            <a:ext cx="2550000" cy="2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5900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Home Office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Gestiona 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trabajo remoto en el acto con fichaje, gestión de entregas y todo lo que </a:t>
            </a: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necesitas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7" name="Google Shape;67;p9"/>
          <p:cNvSpPr txBox="1"/>
          <p:nvPr/>
        </p:nvSpPr>
        <p:spPr>
          <a:xfrm>
            <a:off x="9295950" y="7182525"/>
            <a:ext cx="2905200" cy="287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883285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 err="1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Workflows</a:t>
            </a: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 automatizados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411480" lvl="0" indent="0" algn="l" rtl="0">
              <a:lnSpc>
                <a:spcPts val="2600"/>
              </a:lnSpc>
              <a:spcBef>
                <a:spcPts val="119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Optimiza y agiliza la solicitud y aprobación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 ausencias, vacaciones,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248920" lvl="0" indent="0" algn="just" rtl="0">
              <a:lnSpc>
                <a:spcPts val="26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entregas de equipos de </a:t>
            </a:r>
            <a:r>
              <a:rPr lang="es-ES" sz="195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trabajo, capacitaciones </a:t>
            </a: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y más.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16303650" y="7198201"/>
            <a:ext cx="2759100" cy="23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Siempre actualizada</a:t>
            </a:r>
            <a:endParaRPr sz="2300" dirty="0">
              <a:latin typeface="Figtree"/>
              <a:ea typeface="Figtree"/>
              <a:cs typeface="Figtree"/>
              <a:sym typeface="Figtree"/>
            </a:endParaRPr>
          </a:p>
          <a:p>
            <a:pPr marL="12700" marR="34925" lvl="0" indent="0" algn="l" rtl="0">
              <a:lnSpc>
                <a:spcPts val="2600"/>
              </a:lnSpc>
              <a:spcBef>
                <a:spcPts val="1750"/>
              </a:spcBef>
              <a:spcAft>
                <a:spcPts val="0"/>
              </a:spcAft>
              <a:buNone/>
            </a:pPr>
            <a:r>
              <a:rPr lang="es-ES" sz="19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Mejora continua de herramientas y funcionalidades en base a la experiencia de los usuarios, sin costo.</a:t>
            </a:r>
            <a:endParaRPr sz="195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9" name="Google Shape;69;p9"/>
          <p:cNvSpPr txBox="1"/>
          <p:nvPr/>
        </p:nvSpPr>
        <p:spPr>
          <a:xfrm>
            <a:off x="12655991" y="7074224"/>
            <a:ext cx="2717100" cy="14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9550" rIns="0" bIns="0" anchor="t" anchorCtr="0">
            <a:spAutoFit/>
          </a:bodyPr>
          <a:lstStyle/>
          <a:p>
            <a:pPr marL="12700" lvl="0" indent="0" algn="l" rtl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b="1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Simple y rápida</a:t>
            </a:r>
            <a:endParaRPr sz="2400"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2600"/>
              </a:lnSpc>
              <a:spcBef>
                <a:spcPts val="1420"/>
              </a:spcBef>
              <a:spcAft>
                <a:spcPts val="0"/>
              </a:spcAft>
              <a:buNone/>
            </a:pPr>
            <a:r>
              <a:rPr lang="es-ES" sz="195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Implementación veloz y aprendizaje intuitivo.</a:t>
            </a:r>
            <a:endParaRPr sz="195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71" name="Google Shape;7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/>
        </p:nvSpPr>
        <p:spPr>
          <a:xfrm>
            <a:off x="-271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03</a:t>
            </a:r>
            <a:endParaRPr sz="200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73" name="Google Shape;73;p9"/>
          <p:cNvSpPr txBox="1"/>
          <p:nvPr/>
        </p:nvSpPr>
        <p:spPr>
          <a:xfrm rot="-5400000">
            <a:off x="-755900" y="443375"/>
            <a:ext cx="2345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341" y="5105994"/>
            <a:ext cx="6721909" cy="508288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535" y="6562126"/>
            <a:ext cx="3157778" cy="5901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>
            <a:off x="0" y="0"/>
            <a:ext cx="20104100" cy="36353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1846600" y="773350"/>
            <a:ext cx="6533700" cy="1345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¡</a:t>
            </a:r>
            <a:r>
              <a:rPr lang="es-ES" sz="4100" dirty="0" smtClean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 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en </a:t>
            </a:r>
            <a:r>
              <a:rPr lang="es-ES" sz="4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números! 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Beneficios medibles</a:t>
            </a:r>
            <a:endParaRPr sz="4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81" name="Google Shape;81;p10"/>
          <p:cNvSpPr txBox="1"/>
          <p:nvPr/>
        </p:nvSpPr>
        <p:spPr>
          <a:xfrm>
            <a:off x="10707100" y="936410"/>
            <a:ext cx="7697400" cy="83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Recupera tu inversión en tiempo récord y acelera </a:t>
            </a:r>
            <a:b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</a:br>
            <a: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tu crecimiento desde el día uno.</a:t>
            </a:r>
          </a:p>
        </p:txBody>
      </p:sp>
      <p:pic>
        <p:nvPicPr>
          <p:cNvPr id="83" name="Google Shape;8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/>
        </p:nvSpPr>
        <p:spPr>
          <a:xfrm>
            <a:off x="-17560" y="1020100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04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-700325" y="503925"/>
            <a:ext cx="22185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Beneficios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A9ABD6-7CEF-E61B-1213-55C36655B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200" y="2959826"/>
            <a:ext cx="17581824" cy="6751243"/>
          </a:xfrm>
          <a:prstGeom prst="rect">
            <a:avLst/>
          </a:prstGeom>
        </p:spPr>
      </p:pic>
      <p:sp>
        <p:nvSpPr>
          <p:cNvPr id="9" name="Google Shape;81;p10"/>
          <p:cNvSpPr txBox="1"/>
          <p:nvPr/>
        </p:nvSpPr>
        <p:spPr>
          <a:xfrm>
            <a:off x="1694200" y="10417214"/>
            <a:ext cx="7697400" cy="43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>
              <a:lnSpc>
                <a:spcPts val="3100"/>
              </a:lnSpc>
            </a:pPr>
            <a:r>
              <a:rPr lang="es-MX" sz="2000" b="1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Fuente: </a:t>
            </a:r>
            <a:r>
              <a:rPr lang="es-MX" sz="20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Resultados de usuarios de </a:t>
            </a:r>
            <a:r>
              <a:rPr lang="es-MX" sz="2000" dirty="0" err="1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Naaloo</a:t>
            </a:r>
            <a:r>
              <a:rPr lang="es-MX" sz="20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 </a:t>
            </a:r>
            <a:r>
              <a:rPr lang="es-MX" sz="2000" dirty="0" smtClean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2025.</a:t>
            </a:r>
            <a:endParaRPr lang="es-ES" sz="2000" dirty="0">
              <a:solidFill>
                <a:srgbClr val="152F72"/>
              </a:solidFill>
              <a:latin typeface="Figtree" pitchFamily="2" charset="0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2"/>
          <p:cNvPicPr preferRelativeResize="0"/>
          <p:nvPr/>
        </p:nvPicPr>
        <p:blipFill>
          <a:blip r:embed="rId3">
            <a:alphaModFix amt="74000"/>
          </a:blip>
          <a:stretch>
            <a:fillRect/>
          </a:stretch>
        </p:blipFill>
        <p:spPr>
          <a:xfrm>
            <a:off x="0" y="0"/>
            <a:ext cx="20104100" cy="4255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846598" y="773357"/>
            <a:ext cx="8175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ct val="103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Funcionalidades</a:t>
            </a:r>
            <a:r>
              <a:rPr lang="es-ES" sz="4100" dirty="0"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incluidas</a:t>
            </a:r>
            <a:endParaRPr sz="4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0915524" y="835305"/>
            <a:ext cx="6729600" cy="781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152F72"/>
                </a:solidFill>
                <a:latin typeface="Figtree" pitchFamily="2" charset="0"/>
                <a:ea typeface="Figtree Medium"/>
                <a:cs typeface="Figtree Medium"/>
                <a:sym typeface="Figtree Medium"/>
              </a:rPr>
              <a:t>Herramientas simples y potentes diseñadas para llevar tu gestión al siguiente nivel.</a:t>
            </a:r>
            <a:endParaRPr sz="2400" dirty="0">
              <a:solidFill>
                <a:srgbClr val="152F72"/>
              </a:solidFill>
              <a:latin typeface="Figtree" pitchFamily="2" charset="0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1771481" y="2713860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Gestión Centralizada</a:t>
            </a:r>
            <a:endParaRPr sz="245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06" name="Google Shape;106;p12"/>
          <p:cNvSpPr/>
          <p:nvPr/>
        </p:nvSpPr>
        <p:spPr>
          <a:xfrm>
            <a:off x="1839886" y="3212852"/>
            <a:ext cx="3052154" cy="45719"/>
          </a:xfrm>
          <a:prstGeom prst="rect">
            <a:avLst/>
          </a:prstGeom>
          <a:solidFill>
            <a:srgbClr val="9D7E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6270838" y="269405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Procesos automatizados</a:t>
            </a:r>
            <a:endParaRPr sz="2450" dirty="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6369723" y="3193048"/>
            <a:ext cx="3464700" cy="47926"/>
          </a:xfrm>
          <a:prstGeom prst="rect">
            <a:avLst/>
          </a:prstGeom>
          <a:solidFill>
            <a:srgbClr val="00D0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10756873" y="2696275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Comunicación y Equipo</a:t>
            </a:r>
            <a:endParaRPr sz="245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10825278" y="3195267"/>
            <a:ext cx="3464700" cy="45719"/>
          </a:xfrm>
          <a:prstGeom prst="rect">
            <a:avLst/>
          </a:prstGeom>
          <a:solidFill>
            <a:srgbClr val="379F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15144825" y="2713848"/>
            <a:ext cx="398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50" dirty="0">
                <a:solidFill>
                  <a:srgbClr val="152F72"/>
                </a:solidFill>
                <a:latin typeface="Figtree SemiBold" pitchFamily="2" charset="0"/>
                <a:ea typeface="Figtree"/>
                <a:cs typeface="Figtree"/>
                <a:sym typeface="Figtree"/>
              </a:rPr>
              <a:t>Desarrollo y Performance</a:t>
            </a:r>
            <a:endParaRPr sz="2450" dirty="0">
              <a:solidFill>
                <a:srgbClr val="152F72"/>
              </a:solidFill>
              <a:latin typeface="Figtree SemiBold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12" name="Google Shape;112;p12"/>
          <p:cNvSpPr/>
          <p:nvPr/>
        </p:nvSpPr>
        <p:spPr>
          <a:xfrm>
            <a:off x="15244298" y="3195255"/>
            <a:ext cx="3614032" cy="45719"/>
          </a:xfrm>
          <a:prstGeom prst="rect">
            <a:avLst/>
          </a:prstGeom>
          <a:solidFill>
            <a:srgbClr val="FFCD2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5" y="404"/>
            <a:ext cx="817851" cy="1130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2"/>
          <p:cNvSpPr txBox="1"/>
          <p:nvPr/>
        </p:nvSpPr>
        <p:spPr>
          <a:xfrm>
            <a:off x="-27120" y="1019572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05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 rot="-5400000">
            <a:off x="-1058900" y="87775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Funcionalidades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272" y="3696367"/>
            <a:ext cx="16276302" cy="6034914"/>
          </a:xfrm>
          <a:prstGeom prst="rect">
            <a:avLst/>
          </a:prstGeom>
        </p:spPr>
      </p:pic>
      <p:sp>
        <p:nvSpPr>
          <p:cNvPr id="21" name="Google Shape;104;p12"/>
          <p:cNvSpPr txBox="1"/>
          <p:nvPr/>
        </p:nvSpPr>
        <p:spPr>
          <a:xfrm>
            <a:off x="2330539" y="10442194"/>
            <a:ext cx="6729600" cy="4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 smtClean="0">
                <a:solidFill>
                  <a:srgbClr val="152F72"/>
                </a:solidFill>
                <a:latin typeface="Figtree Medium" pitchFamily="2" charset="0"/>
                <a:ea typeface="Figtree Medium"/>
                <a:cs typeface="Figtree Medium"/>
                <a:sym typeface="Figtree Medium"/>
              </a:rPr>
              <a:t>Funcionalidad bonificada</a:t>
            </a:r>
            <a:endParaRPr sz="2200" dirty="0">
              <a:solidFill>
                <a:srgbClr val="152F72"/>
              </a:solidFill>
              <a:latin typeface="Figtree Medium" pitchFamily="2" charset="0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1854" y="4899308"/>
            <a:ext cx="346560" cy="352337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3718" y="3862657"/>
            <a:ext cx="346560" cy="352337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86" y="10470881"/>
            <a:ext cx="346560" cy="3523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/>
        </p:nvSpPr>
        <p:spPr>
          <a:xfrm>
            <a:off x="10772550" y="2072640"/>
            <a:ext cx="7854600" cy="8696860"/>
          </a:xfrm>
          <a:prstGeom prst="roundRect">
            <a:avLst>
              <a:gd name="adj" fmla="val 4639"/>
            </a:avLst>
          </a:prstGeom>
          <a:solidFill>
            <a:srgbClr val="F2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10935300" y="8854440"/>
            <a:ext cx="7529100" cy="1767839"/>
          </a:xfrm>
          <a:prstGeom prst="roundRect">
            <a:avLst>
              <a:gd name="adj" fmla="val 10244"/>
            </a:avLst>
          </a:prstGeom>
          <a:solidFill>
            <a:srgbClr val="C5E5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109475" y="2072640"/>
            <a:ext cx="7854600" cy="8696860"/>
          </a:xfrm>
          <a:prstGeom prst="roundRect">
            <a:avLst>
              <a:gd name="adj" fmla="val 4639"/>
            </a:avLst>
          </a:prstGeom>
          <a:solidFill>
            <a:srgbClr val="F2FA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2222996" y="8854440"/>
            <a:ext cx="7606804" cy="1767839"/>
          </a:xfrm>
          <a:prstGeom prst="roundRect">
            <a:avLst>
              <a:gd name="adj" fmla="val 10244"/>
            </a:avLst>
          </a:prstGeom>
          <a:solidFill>
            <a:srgbClr val="C5E5FC"/>
          </a:solidFill>
          <a:ln w="9525" cap="flat" cmpd="sng">
            <a:solidFill>
              <a:srgbClr val="E6F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2177275" y="744124"/>
            <a:ext cx="64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Propuesta </a:t>
            </a:r>
            <a:r>
              <a:rPr lang="es-ES" sz="38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9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3392150" y="814364"/>
            <a:ext cx="5235000" cy="448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Fecha: </a:t>
            </a: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15/10/25</a:t>
            </a:r>
            <a:endParaRPr sz="2800" dirty="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3175140" y="4315422"/>
            <a:ext cx="60708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Cantidad de usuarios: 350  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3175111" y="5053999"/>
            <a:ext cx="6070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Almacenamiento disponible: 20 GB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/>
          </p:nvPr>
        </p:nvSpPr>
        <p:spPr>
          <a:xfrm>
            <a:off x="2717292" y="2496232"/>
            <a:ext cx="41475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Licencia Software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727150" y="9019580"/>
            <a:ext cx="6038512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Licencia: </a:t>
            </a:r>
            <a:r>
              <a:rPr lang="es-ES" sz="22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</a:t>
            </a:r>
            <a:r>
              <a:rPr lang="es-ES" sz="22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154.000 + IVA 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3175151" y="3239580"/>
            <a:ext cx="68259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Sistema de gestión de RRHH con los módulos especificados.    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3523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460990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5266304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8750"/>
            <a:ext cx="817850" cy="113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-2489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06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11858778" y="4223990"/>
            <a:ext cx="6407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Creación de base de datos y parametrización de la plataforma.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11858775" y="5372240"/>
            <a:ext cx="64077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Alta y notificación del personal con usuarios y claves.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11413654" y="2458130"/>
            <a:ext cx="6401906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/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Onboarding </a:t>
            </a:r>
            <a:r>
              <a:rPr lang="en-US" sz="2700" dirty="0" err="1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inmediato</a:t>
            </a:r>
            <a:r>
              <a:rPr lang="en-US" sz="2700" dirty="0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 </a:t>
            </a:r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y </a:t>
            </a:r>
            <a:r>
              <a:rPr lang="en-US" sz="2700" dirty="0" err="1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Capacitación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11858800" y="3239580"/>
            <a:ext cx="6425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Personalización del diseño en base a la identidad de la compañía.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3535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451846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554676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858750" y="6398365"/>
            <a:ext cx="694741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 (dos) sesiones de capacitación en todas las funcionalidades de Naaloo para administradores.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8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655410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>
            <a:spLocks noGrp="1"/>
          </p:cNvSpPr>
          <p:nvPr>
            <p:ph type="body" idx="1"/>
          </p:nvPr>
        </p:nvSpPr>
        <p:spPr>
          <a:xfrm>
            <a:off x="3175100" y="5663355"/>
            <a:ext cx="6825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Gestión de Desempeño: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605955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>
            <a:spLocks noGrp="1"/>
          </p:cNvSpPr>
          <p:nvPr>
            <p:ph type="body" idx="1"/>
          </p:nvPr>
        </p:nvSpPr>
        <p:spPr>
          <a:xfrm>
            <a:off x="3175151" y="6623630"/>
            <a:ext cx="6070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Reclutamiento: </a:t>
            </a:r>
            <a:r>
              <a:rPr lang="es-ES" sz="23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7150" y="6868879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13">
            <a:extLst>
              <a:ext uri="{FF2B5EF4-FFF2-40B4-BE49-F238E27FC236}">
                <a16:creationId xmlns:a16="http://schemas.microsoft.com/office/drawing/2014/main" id="{A62EB8E7-D096-6CB2-486B-DAB70D0F5768}"/>
              </a:ext>
            </a:extLst>
          </p:cNvPr>
          <p:cNvSpPr txBox="1"/>
          <p:nvPr/>
        </p:nvSpPr>
        <p:spPr>
          <a:xfrm>
            <a:off x="5427853" y="9969505"/>
            <a:ext cx="4147500" cy="474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Recurso excedente: $</a:t>
            </a:r>
            <a:r>
              <a:rPr lang="es-ES" sz="17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2.400 + IVA</a:t>
            </a:r>
            <a:endParaRPr lang="es-ES" sz="17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6" name="Google Shape;124;p13"/>
          <p:cNvSpPr/>
          <p:nvPr/>
        </p:nvSpPr>
        <p:spPr>
          <a:xfrm>
            <a:off x="2644044" y="9763013"/>
            <a:ext cx="2893155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130;p13"/>
          <p:cNvSpPr txBox="1"/>
          <p:nvPr/>
        </p:nvSpPr>
        <p:spPr>
          <a:xfrm>
            <a:off x="2758784" y="9619264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2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2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Mensual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7" name="Google Shape;130;p13"/>
          <p:cNvSpPr txBox="1"/>
          <p:nvPr/>
        </p:nvSpPr>
        <p:spPr>
          <a:xfrm>
            <a:off x="11524385" y="9019580"/>
            <a:ext cx="6042646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total: </a:t>
            </a:r>
            <a:r>
              <a:rPr lang="es-ES" sz="22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8" name="Google Shape;124;p13"/>
          <p:cNvSpPr/>
          <p:nvPr/>
        </p:nvSpPr>
        <p:spPr>
          <a:xfrm>
            <a:off x="11441280" y="9763013"/>
            <a:ext cx="3067200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9" name="Google Shape;130;p13"/>
          <p:cNvSpPr txBox="1"/>
          <p:nvPr/>
        </p:nvSpPr>
        <p:spPr>
          <a:xfrm>
            <a:off x="11558177" y="9596382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2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2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Única vez</a:t>
            </a:r>
            <a:endParaRPr sz="22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0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893922" y="7567907"/>
            <a:ext cx="6407700" cy="31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/>
            <a:r>
              <a:rPr lang="es-MX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Soporte especial por WhatsApp por 30 días.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1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0800" y="7672379"/>
            <a:ext cx="233794" cy="241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3"/>
          <p:cNvSpPr/>
          <p:nvPr/>
        </p:nvSpPr>
        <p:spPr>
          <a:xfrm>
            <a:off x="1903687" y="2072640"/>
            <a:ext cx="8060388" cy="8696860"/>
          </a:xfrm>
          <a:prstGeom prst="roundRect">
            <a:avLst>
              <a:gd name="adj" fmla="val 4639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" name="Google Shape;122;p13"/>
          <p:cNvSpPr/>
          <p:nvPr/>
        </p:nvSpPr>
        <p:spPr>
          <a:xfrm>
            <a:off x="2061870" y="8448675"/>
            <a:ext cx="7744022" cy="2152989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" name="Google Shape;123;p13"/>
          <p:cNvSpPr/>
          <p:nvPr/>
        </p:nvSpPr>
        <p:spPr>
          <a:xfrm>
            <a:off x="10629468" y="2072640"/>
            <a:ext cx="8060388" cy="8696860"/>
          </a:xfrm>
          <a:prstGeom prst="roundRect">
            <a:avLst>
              <a:gd name="adj" fmla="val 4639"/>
            </a:avLst>
          </a:prstGeom>
          <a:solidFill>
            <a:srgbClr val="EAF4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/>
          </p:nvPr>
        </p:nvSpPr>
        <p:spPr>
          <a:xfrm>
            <a:off x="1903687" y="762931"/>
            <a:ext cx="6425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8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Propuesta </a:t>
            </a:r>
            <a:r>
              <a:rPr lang="es-ES" sz="38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9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13392150" y="814364"/>
            <a:ext cx="5235000" cy="448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800" b="1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Fecha: </a:t>
            </a:r>
            <a:r>
              <a:rPr lang="es-ES" sz="2800" dirty="0" smtClean="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15/10/25</a:t>
            </a:r>
            <a:endParaRPr sz="2800" dirty="0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2914790" y="4315422"/>
            <a:ext cx="6070800" cy="5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Cantidad de usuarios: 350  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2914761" y="5053999"/>
            <a:ext cx="6070800" cy="5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Almacenamiento disponible: 20 GB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/>
          </p:nvPr>
        </p:nvSpPr>
        <p:spPr>
          <a:xfrm>
            <a:off x="2441702" y="2496232"/>
            <a:ext cx="41475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Licencia Software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508494" y="8993123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Licencia: </a:t>
            </a:r>
            <a:r>
              <a:rPr lang="es-ES" sz="21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2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$154.000 + IVA </a:t>
            </a:r>
            <a:endParaRPr sz="2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31" name="Google Shape;131;p13"/>
          <p:cNvSpPr txBox="1">
            <a:spLocks noGrp="1"/>
          </p:cNvSpPr>
          <p:nvPr>
            <p:ph type="body" idx="1"/>
          </p:nvPr>
        </p:nvSpPr>
        <p:spPr>
          <a:xfrm>
            <a:off x="2914801" y="3239580"/>
            <a:ext cx="68259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Sistema de gestión de RRHH con los módulos especificados.    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3523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460990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5266304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8750"/>
            <a:ext cx="817850" cy="1136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-2489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06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11649228" y="4223990"/>
            <a:ext cx="6407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Creación de base de datos y parametrización de la plataforma.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11649225" y="5372240"/>
            <a:ext cx="64077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Alta y notificación del personal con usuarios y claves.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/>
          </p:nvPr>
        </p:nvSpPr>
        <p:spPr>
          <a:xfrm>
            <a:off x="11204104" y="2458130"/>
            <a:ext cx="6401906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09775" rIns="0" bIns="0" anchor="b" anchorCtr="0">
            <a:noAutofit/>
          </a:bodyPr>
          <a:lstStyle/>
          <a:p>
            <a:pPr marL="41910" lvl="0"/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Onboarding </a:t>
            </a:r>
            <a:r>
              <a:rPr lang="en-US" sz="2700" dirty="0" err="1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inmediato</a:t>
            </a:r>
            <a:r>
              <a:rPr lang="en-US" sz="2700" dirty="0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 </a:t>
            </a:r>
            <a:r>
              <a:rPr lang="en-US" sz="27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y </a:t>
            </a:r>
            <a:r>
              <a:rPr lang="en-US" sz="2700" dirty="0" err="1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Capacitación</a:t>
            </a:r>
            <a:endParaRPr sz="27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1"/>
          </p:nvPr>
        </p:nvSpPr>
        <p:spPr>
          <a:xfrm>
            <a:off x="11649250" y="3239580"/>
            <a:ext cx="6425700" cy="8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t" anchorCtr="0">
            <a:spAutoFit/>
          </a:bodyPr>
          <a:lstStyle/>
          <a:p>
            <a:pPr marL="0" marR="425450" lvl="0" indent="0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Personalización del diseño en base a la identidad de la compañía.</a:t>
            </a:r>
            <a:endParaRPr sz="2300" b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4" name="Google Shape;14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3535876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4518462"/>
            <a:ext cx="233794" cy="2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554676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649200" y="6398365"/>
            <a:ext cx="694741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2 (dos) sesiones de capacitación en todas las funcionalidades de Naaloo para administradores.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48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655410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3"/>
          <p:cNvSpPr txBox="1">
            <a:spLocks noGrp="1"/>
          </p:cNvSpPr>
          <p:nvPr>
            <p:ph type="body" idx="1"/>
          </p:nvPr>
        </p:nvSpPr>
        <p:spPr>
          <a:xfrm>
            <a:off x="2914750" y="5663355"/>
            <a:ext cx="68259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Gestión de Desempeño: </a:t>
            </a:r>
            <a:r>
              <a:rPr lang="es-ES" sz="230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0" name="Google Shape;1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6059554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3"/>
          <p:cNvSpPr txBox="1">
            <a:spLocks noGrp="1"/>
          </p:cNvSpPr>
          <p:nvPr>
            <p:ph type="body" idx="1"/>
          </p:nvPr>
        </p:nvSpPr>
        <p:spPr>
          <a:xfrm>
            <a:off x="2914801" y="6623630"/>
            <a:ext cx="6070800" cy="6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Módulo de Reclutamiento: </a:t>
            </a:r>
            <a:r>
              <a:rPr lang="es-ES" sz="23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Bonificado.</a:t>
            </a:r>
            <a:endParaRPr sz="23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2" name="Google Shape;15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800" y="6868879"/>
            <a:ext cx="233794" cy="241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13">
            <a:extLst>
              <a:ext uri="{FF2B5EF4-FFF2-40B4-BE49-F238E27FC236}">
                <a16:creationId xmlns:a16="http://schemas.microsoft.com/office/drawing/2014/main" id="{A62EB8E7-D096-6CB2-486B-DAB70D0F5768}"/>
              </a:ext>
            </a:extLst>
          </p:cNvPr>
          <p:cNvSpPr txBox="1"/>
          <p:nvPr/>
        </p:nvSpPr>
        <p:spPr>
          <a:xfrm>
            <a:off x="5388257" y="9957969"/>
            <a:ext cx="4147500" cy="45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Recurso excedente: $</a:t>
            </a:r>
            <a:r>
              <a:rPr lang="es-ES" sz="1600" dirty="0" smtClean="0">
                <a:solidFill>
                  <a:srgbClr val="152F72"/>
                </a:solidFill>
                <a:latin typeface="Figtree" pitchFamily="2" charset="0"/>
                <a:ea typeface="Figtree"/>
                <a:cs typeface="Figtree"/>
                <a:sym typeface="Figtree"/>
              </a:rPr>
              <a:t>2.400 + IVA</a:t>
            </a:r>
            <a:endParaRPr lang="es-ES" sz="1600" dirty="0">
              <a:solidFill>
                <a:srgbClr val="152F72"/>
              </a:solidFill>
              <a:latin typeface="Figtree" pitchFamily="2" charset="0"/>
              <a:ea typeface="Figtree"/>
              <a:cs typeface="Figtree"/>
              <a:sym typeface="Figtree"/>
            </a:endParaRPr>
          </a:p>
        </p:txBody>
      </p:sp>
      <p:sp>
        <p:nvSpPr>
          <p:cNvPr id="38" name="Google Shape;124;p13"/>
          <p:cNvSpPr/>
          <p:nvPr/>
        </p:nvSpPr>
        <p:spPr>
          <a:xfrm>
            <a:off x="15171228" y="9150339"/>
            <a:ext cx="3067200" cy="526532"/>
          </a:xfrm>
          <a:prstGeom prst="roundRect">
            <a:avLst>
              <a:gd name="adj" fmla="val 17480"/>
            </a:avLst>
          </a:prstGeom>
          <a:solidFill>
            <a:srgbClr val="F2FAF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0" name="Google Shape;147;p13"/>
          <p:cNvSpPr txBox="1">
            <a:spLocks noGrp="1"/>
          </p:cNvSpPr>
          <p:nvPr>
            <p:ph type="body" idx="1"/>
          </p:nvPr>
        </p:nvSpPr>
        <p:spPr>
          <a:xfrm>
            <a:off x="11684372" y="7567907"/>
            <a:ext cx="6407700" cy="31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5400" rIns="0" bIns="0" anchor="ctr" anchorCtr="0">
            <a:noAutofit/>
          </a:bodyPr>
          <a:lstStyle/>
          <a:p>
            <a:pPr marL="0" marR="541655" lvl="0" indent="0"/>
            <a:r>
              <a:rPr lang="es-MX" sz="23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Soporte especial por WhatsApp por 30 días.</a:t>
            </a:r>
            <a:endParaRPr sz="23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1" name="Google Shape;1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1250" y="7672379"/>
            <a:ext cx="233794" cy="2414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Conector recto 3"/>
          <p:cNvCxnSpPr/>
          <p:nvPr/>
        </p:nvCxnSpPr>
        <p:spPr>
          <a:xfrm flipV="1">
            <a:off x="4461926" y="9384096"/>
            <a:ext cx="1919743" cy="43631"/>
          </a:xfrm>
          <a:prstGeom prst="line">
            <a:avLst/>
          </a:prstGeom>
          <a:ln w="19050">
            <a:solidFill>
              <a:srgbClr val="3AA0F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130;p13"/>
          <p:cNvSpPr txBox="1"/>
          <p:nvPr/>
        </p:nvSpPr>
        <p:spPr>
          <a:xfrm>
            <a:off x="6542521" y="9023009"/>
            <a:ext cx="2462090" cy="54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algn="ctr">
              <a:lnSpc>
                <a:spcPts val="2700"/>
              </a:lnSpc>
            </a:pPr>
            <a:r>
              <a:rPr lang="en-US" sz="2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$115.500 + IVA</a:t>
            </a:r>
            <a:endParaRPr sz="2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0" name="Google Shape;124;p13"/>
          <p:cNvSpPr/>
          <p:nvPr/>
        </p:nvSpPr>
        <p:spPr>
          <a:xfrm>
            <a:off x="3453558" y="8201026"/>
            <a:ext cx="4960646" cy="521455"/>
          </a:xfrm>
          <a:prstGeom prst="roundRect">
            <a:avLst>
              <a:gd name="adj" fmla="val 50000"/>
            </a:avLst>
          </a:prstGeom>
          <a:solidFill>
            <a:srgbClr val="3AA0F8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130;p13"/>
          <p:cNvSpPr txBox="1"/>
          <p:nvPr/>
        </p:nvSpPr>
        <p:spPr>
          <a:xfrm>
            <a:off x="3972142" y="8108769"/>
            <a:ext cx="3921966" cy="505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ctr" rtl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chemeClr val="bg1"/>
                </a:solidFill>
                <a:latin typeface="Figtree"/>
                <a:ea typeface="Figtree"/>
                <a:cs typeface="Figtree"/>
                <a:sym typeface="Figtree"/>
              </a:rPr>
              <a:t>Descuento de 25% por 3 meses</a:t>
            </a:r>
            <a:endParaRPr sz="2100"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0" name="Google Shape;124;p13"/>
          <p:cNvSpPr/>
          <p:nvPr/>
        </p:nvSpPr>
        <p:spPr>
          <a:xfrm>
            <a:off x="6539852" y="9165778"/>
            <a:ext cx="2445709" cy="435199"/>
          </a:xfrm>
          <a:prstGeom prst="roundRect">
            <a:avLst>
              <a:gd name="adj" fmla="val 25772"/>
            </a:avLst>
          </a:prstGeom>
          <a:noFill/>
          <a:ln w="19050" cap="flat" cmpd="sng">
            <a:solidFill>
              <a:srgbClr val="3AA0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130;p13"/>
          <p:cNvSpPr txBox="1"/>
          <p:nvPr/>
        </p:nvSpPr>
        <p:spPr>
          <a:xfrm>
            <a:off x="2504900" y="9568696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100" b="1" dirty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100" b="1" dirty="0" smtClean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Mensual</a:t>
            </a:r>
            <a:endParaRPr sz="2100" b="1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4" name="Google Shape;122;p13"/>
          <p:cNvSpPr/>
          <p:nvPr/>
        </p:nvSpPr>
        <p:spPr>
          <a:xfrm>
            <a:off x="10787651" y="8800179"/>
            <a:ext cx="7744022" cy="1801485"/>
          </a:xfrm>
          <a:prstGeom prst="roundRect">
            <a:avLst>
              <a:gd name="adj" fmla="val 10244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5" name="Google Shape;130;p13"/>
          <p:cNvSpPr txBox="1"/>
          <p:nvPr/>
        </p:nvSpPr>
        <p:spPr>
          <a:xfrm>
            <a:off x="11251229" y="90286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Valor total: </a:t>
            </a:r>
            <a:r>
              <a:rPr lang="es-ES" sz="21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Bonificado</a:t>
            </a:r>
            <a:endParaRPr sz="2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72" name="Google Shape;130;p13"/>
          <p:cNvSpPr txBox="1"/>
          <p:nvPr/>
        </p:nvSpPr>
        <p:spPr>
          <a:xfrm>
            <a:off x="11279687" y="9565778"/>
            <a:ext cx="4147500" cy="607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95575" rIns="0" bIns="0" anchor="t" anchorCtr="0">
            <a:spAutoFit/>
          </a:bodyPr>
          <a:lstStyle/>
          <a:p>
            <a:pPr marL="12700" lvl="0" indent="0" algn="l" rtl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 smtClean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Frecuencia</a:t>
            </a:r>
            <a:r>
              <a:rPr lang="es-ES" sz="2100" b="1" dirty="0">
                <a:solidFill>
                  <a:srgbClr val="001F4E"/>
                </a:solidFill>
                <a:latin typeface="Figtree"/>
                <a:ea typeface="Figtree"/>
                <a:cs typeface="Figtree"/>
                <a:sym typeface="Figtree"/>
              </a:rPr>
              <a:t>: </a:t>
            </a:r>
            <a:r>
              <a:rPr lang="es-ES" sz="2100" b="1" dirty="0" smtClean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Única vez</a:t>
            </a:r>
            <a:endParaRPr sz="2100" b="1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388515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/>
          <p:nvPr/>
        </p:nvSpPr>
        <p:spPr>
          <a:xfrm>
            <a:off x="0" y="1996550"/>
            <a:ext cx="20125500" cy="93888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>
            <a:off x="1799875" y="656700"/>
            <a:ext cx="101931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85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Especificaciones </a:t>
            </a:r>
            <a:r>
              <a:rPr lang="es-ES" sz="385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Propuesta Naaloo</a:t>
            </a:r>
            <a:endParaRPr sz="3850" dirty="0">
              <a:solidFill>
                <a:srgbClr val="152F72"/>
              </a:solidFill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1799875" y="5976870"/>
            <a:ext cx="8117848" cy="215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Descuentos</a:t>
            </a:r>
            <a:endParaRPr sz="20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>
              <a:lnSpc>
                <a:spcPct val="115000"/>
              </a:lnSpc>
              <a:buSzPts val="1100"/>
            </a:pPr>
            <a:r>
              <a:rPr lang="es-MX" sz="20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Obtén </a:t>
            </a:r>
            <a:r>
              <a:rPr lang="es-MX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un 10% de descuento en tu presupuesto al adherirte al débito automático con tarjeta de crédito en cada pago. Además, si abonas de forma anticipada, obtendrás un 15% de descuento al pagar un año completo, un 20% de descuento por dos años y un 25% de descuento por tres años.</a:t>
            </a:r>
            <a:endParaRPr sz="18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1141387" y="4231215"/>
            <a:ext cx="8117848" cy="1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Cuentas Asociadas</a:t>
            </a:r>
            <a:endParaRPr sz="20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 propuesta aplica exclusivamente a la vinculación de una única Razón Social.</a:t>
            </a:r>
            <a:endParaRPr sz="20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4" name="Google Shape;174;p15"/>
          <p:cNvSpPr txBox="1">
            <a:spLocks noGrp="1"/>
          </p:cNvSpPr>
          <p:nvPr>
            <p:ph type="body" idx="1"/>
          </p:nvPr>
        </p:nvSpPr>
        <p:spPr>
          <a:xfrm>
            <a:off x="1799875" y="2778865"/>
            <a:ext cx="8117848" cy="2847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8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Facturación</a:t>
            </a:r>
            <a:endParaRPr sz="20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La factura por el costo de implementación se emitirá una vez aceptada la propuesta y activada la cuenta. Para avanzar con el proceso, el pago deberá realizarse dentro de las 48 horas.</a:t>
            </a:r>
            <a:endParaRPr sz="20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La primera factura de la licencia mensual se emitirá dentro de los 5 días posteriores a la finalización de la implementación o al cumplirse 30 días desde su inicio, lo que ocurra primero. El pago deberá realizarse dentro de los 5 </a:t>
            </a:r>
            <a:r>
              <a:rPr lang="es-ES" sz="2000" b="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días </a:t>
            </a:r>
            <a:r>
              <a:rPr lang="es-ES" sz="2000" b="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siguientes desde su emisión.</a:t>
            </a:r>
            <a:endParaRPr sz="1800" b="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1799875" y="8485315"/>
            <a:ext cx="8117848" cy="109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Impuestos / Moneda</a:t>
            </a:r>
            <a:endParaRPr sz="20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presupuestados no incluyen IVA y la moneda de pago es pesos argentinos.</a:t>
            </a:r>
            <a:endParaRPr sz="18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1141386" y="2750450"/>
            <a:ext cx="8117848" cy="109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Plazo de Vigencia</a:t>
            </a:r>
            <a:endParaRPr sz="20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El plazo de validez de esta propuesta es de 15 días a partir de su emisión.</a:t>
            </a:r>
            <a:endParaRPr sz="18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11141386" y="5730785"/>
            <a:ext cx="8142743" cy="180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de Tarifas</a:t>
            </a:r>
            <a:endParaRPr sz="20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Los valores se actualizarán trimestralmente en marzo, junio, septiembre y diciembre, según la variación del IPC publicado por el INDEC. La aplicación será automática e independiente de la fecha de alta, ajustándose proporcionalmente según el período transcurrido.</a:t>
            </a:r>
            <a:endParaRPr sz="18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39067" y="727950"/>
            <a:ext cx="1636959" cy="470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5"/>
          <p:cNvGrpSpPr/>
          <p:nvPr/>
        </p:nvGrpSpPr>
        <p:grpSpPr>
          <a:xfrm>
            <a:off x="-24895" y="-159500"/>
            <a:ext cx="842746" cy="11474140"/>
            <a:chOff x="-24895" y="-159500"/>
            <a:chExt cx="842746" cy="11474140"/>
          </a:xfrm>
        </p:grpSpPr>
        <p:pic>
          <p:nvPicPr>
            <p:cNvPr id="181" name="Google Shape;18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0" y="5289"/>
              <a:ext cx="817851" cy="11309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5"/>
            <p:cNvSpPr txBox="1"/>
            <p:nvPr/>
          </p:nvSpPr>
          <p:spPr>
            <a:xfrm>
              <a:off x="-24895" y="10211350"/>
              <a:ext cx="817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152F72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 </a:t>
              </a:r>
              <a:r>
                <a:rPr lang="es-ES" sz="2000" dirty="0" smtClean="0">
                  <a:solidFill>
                    <a:srgbClr val="152F72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07</a:t>
              </a:r>
              <a:endParaRPr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15"/>
            <p:cNvSpPr txBox="1"/>
            <p:nvPr/>
          </p:nvSpPr>
          <p:spPr>
            <a:xfrm rot="-5400000">
              <a:off x="-1116425" y="1021450"/>
              <a:ext cx="3050700" cy="68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dirty="0">
                  <a:solidFill>
                    <a:srgbClr val="3AA0F8"/>
                  </a:solidFill>
                  <a:latin typeface="Figtree SemiBold"/>
                  <a:ea typeface="Figtree SemiBold"/>
                  <a:cs typeface="Figtree SemiBold"/>
                  <a:sym typeface="Figtree SemiBold"/>
                </a:rPr>
                <a:t>Propuesta Naaloo</a:t>
              </a:r>
              <a:endParaRPr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6" name="Google Shape;177;p15"/>
          <p:cNvSpPr txBox="1"/>
          <p:nvPr/>
        </p:nvSpPr>
        <p:spPr>
          <a:xfrm>
            <a:off x="11141387" y="7939587"/>
            <a:ext cx="8142742" cy="2157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650" rIns="0" bIns="0" anchor="t" anchorCtr="0">
            <a:spAutoFit/>
          </a:bodyPr>
          <a:lstStyle/>
          <a:p>
            <a:pPr marL="12700" marR="12700"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ES" sz="20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Actualización </a:t>
            </a:r>
            <a:r>
              <a:rPr lang="es-ES" sz="20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Tecnológica (I+D) </a:t>
            </a:r>
          </a:p>
          <a:p>
            <a:pPr marL="12700" marR="12700" lvl="0">
              <a:lnSpc>
                <a:spcPct val="115000"/>
              </a:lnSpc>
              <a:buSzPts val="1100"/>
            </a:pPr>
            <a:r>
              <a:rPr lang="es-MX" sz="2000" dirty="0" err="1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r>
              <a:rPr lang="es-MX" sz="20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MX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incorpora nuevas funcionalidades, mejoras y actualizaciones de forma permanente, todas incluidas en tu licencia y sin costo por módulo. Para sostener esa evolución, en junio y diciembre se aplicará un ajuste del </a:t>
            </a:r>
            <a:r>
              <a:rPr lang="es-MX" sz="20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5</a:t>
            </a:r>
            <a:r>
              <a:rPr lang="es-MX" sz="2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% sobre la licencia mensual, adicional a la actualización por </a:t>
            </a:r>
            <a:r>
              <a:rPr lang="es-MX" sz="20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IPC.</a:t>
            </a:r>
            <a:endParaRPr sz="1800" b="1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 rot="10800000">
            <a:off x="457202" y="-401"/>
            <a:ext cx="19646898" cy="1131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2477150" y="3635219"/>
            <a:ext cx="4515600" cy="202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01925" rIns="0" bIns="0" anchor="t" anchorCtr="0">
            <a:spAutoFit/>
          </a:bodyPr>
          <a:lstStyle/>
          <a:p>
            <a:pPr marL="12700" marR="5080" lvl="0" indent="0" rtl="0">
              <a:lnSpc>
                <a:spcPts val="7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8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camino </a:t>
            </a:r>
            <a:r>
              <a:rPr lang="es-ES" sz="68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con </a:t>
            </a:r>
            <a:r>
              <a:rPr lang="es-ES" sz="6800" b="1" dirty="0" smtClean="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68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11"/>
          <p:cNvSpPr txBox="1"/>
          <p:nvPr/>
        </p:nvSpPr>
        <p:spPr>
          <a:xfrm>
            <a:off x="2477150" y="6110329"/>
            <a:ext cx="50487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7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Timeline de implementación</a:t>
            </a:r>
            <a:endParaRPr sz="37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25" y="-88500"/>
            <a:ext cx="817850" cy="113982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>
            <a:off x="-27420" y="1018888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</a:t>
            </a:r>
            <a:r>
              <a:rPr lang="es-ES" sz="2000" dirty="0" smtClean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08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-1058900" y="888700"/>
            <a:ext cx="2951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Implementación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5BA20F-3417-9C46-E5A6-A082D2017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516" y="-88500"/>
            <a:ext cx="13028948" cy="114867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1708772" y="1286350"/>
            <a:ext cx="82473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Te acompañamos en </a:t>
            </a:r>
            <a:r>
              <a:rPr lang="es-ES" sz="4000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cada paso</a:t>
            </a:r>
            <a:endParaRPr sz="4000" dirty="0">
              <a:solidFill>
                <a:srgbClr val="379DF6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58" name="Google Shape;1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9500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4"/>
          <p:cNvSpPr txBox="1"/>
          <p:nvPr/>
        </p:nvSpPr>
        <p:spPr>
          <a:xfrm>
            <a:off x="10275" y="10193765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 smtClean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09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 rot="-5400000">
            <a:off x="-1116425" y="308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Propuesta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61" name="Google Shape;1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80917" y="1318500"/>
            <a:ext cx="1636959" cy="47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772" y="3437692"/>
            <a:ext cx="17509104" cy="6402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/>
          <p:nvPr/>
        </p:nvSpPr>
        <p:spPr>
          <a:xfrm>
            <a:off x="-50" y="-83250"/>
            <a:ext cx="20104200" cy="114687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9" name="Google Shape;189;p16"/>
          <p:cNvSpPr txBox="1">
            <a:spLocks noGrp="1"/>
          </p:cNvSpPr>
          <p:nvPr>
            <p:ph type="title"/>
          </p:nvPr>
        </p:nvSpPr>
        <p:spPr>
          <a:xfrm>
            <a:off x="1697576" y="1687750"/>
            <a:ext cx="8537400" cy="1319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3025" rIns="0" bIns="0" anchor="t" anchorCtr="0">
            <a:spAutoFit/>
          </a:bodyPr>
          <a:lstStyle/>
          <a:p>
            <a:pPr marL="12700" marR="5080" lvl="0" indent="0" algn="l" rtl="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¡Sumarte tiene un </a:t>
            </a:r>
            <a:r>
              <a:rPr lang="es-ES" sz="4100" dirty="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impacto </a:t>
            </a:r>
            <a:endParaRPr sz="4100" dirty="0">
              <a:solidFill>
                <a:srgbClr val="379FF8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ts val="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dirty="0">
                <a:solidFill>
                  <a:srgbClr val="379FF8"/>
                </a:solidFill>
                <a:latin typeface="Figtree"/>
                <a:ea typeface="Figtree"/>
                <a:cs typeface="Figtree"/>
                <a:sym typeface="Figtree"/>
              </a:rPr>
              <a:t>positivo</a:t>
            </a:r>
            <a:r>
              <a:rPr lang="es-ES" sz="41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para el mundo!</a:t>
            </a:r>
            <a:endParaRPr sz="41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10770610" y="1792227"/>
            <a:ext cx="8505300" cy="15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152F72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Sabemos que no solo quieres mejorar a tu equipo, quieres cambiar el planeta y Naaloo lo lleva en su ADN. Por eso, cuando te unes a nuestra comunidad, estás haciendo mucho más que mejorar tu gestión. ¡Mira!</a:t>
            </a:r>
            <a:endParaRPr sz="2200" dirty="0">
              <a:solidFill>
                <a:srgbClr val="152F72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8000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0052" y="4073836"/>
            <a:ext cx="8575896" cy="6470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41915"/>
            <a:ext cx="817850" cy="114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6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10</a:t>
            </a:r>
            <a:endParaRPr sz="2000" dirty="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 rot="-5400000">
            <a:off x="-1116425" y="640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Bosque Naaloo</a:t>
            </a:r>
            <a:endParaRPr sz="2200" dirty="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196" name="Google Shape;19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3775" y="785100"/>
            <a:ext cx="1541925" cy="4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6" y="0"/>
            <a:ext cx="20105512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445" y="0"/>
            <a:ext cx="10322445" cy="11309350"/>
          </a:xfrm>
          <a:prstGeom prst="rect">
            <a:avLst/>
          </a:prstGeom>
        </p:spPr>
      </p:pic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2043215" y="976718"/>
            <a:ext cx="5169408" cy="962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400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Tu experiencia es nuestra </a:t>
            </a:r>
            <a:r>
              <a:rPr lang="es-ES" sz="3400" dirty="0" smtClean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prioridad</a:t>
            </a:r>
            <a:endParaRPr sz="3400" dirty="0">
              <a:solidFill>
                <a:srgbClr val="3AA0F8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11" name="Google Shape;2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817850" cy="113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-35445" y="10211350"/>
            <a:ext cx="8178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152F72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 12</a:t>
            </a:r>
            <a:endParaRPr sz="2000">
              <a:solidFill>
                <a:srgbClr val="152F72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 rot="-5400000">
            <a:off x="-1116425" y="1021450"/>
            <a:ext cx="3050700" cy="6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rgbClr val="3AA0F8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Nuestros clientes</a:t>
            </a:r>
            <a:endParaRPr sz="2200">
              <a:solidFill>
                <a:srgbClr val="3AA0F8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3" name="Google Shape;210;p18"/>
          <p:cNvSpPr txBox="1"/>
          <p:nvPr/>
        </p:nvSpPr>
        <p:spPr>
          <a:xfrm>
            <a:off x="11600168" y="995768"/>
            <a:ext cx="6116332" cy="96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lvl="0" indent="0" algn="l" defTabSz="828000" rtl="0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4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Nuestros </a:t>
            </a:r>
            <a:r>
              <a:rPr lang="es-ES" sz="3400" b="1" dirty="0" smtClean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usuarios </a:t>
            </a:r>
            <a:r>
              <a:rPr lang="es-ES" sz="3400" b="1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recomiendan</a:t>
            </a:r>
            <a:r>
              <a:rPr lang="es-ES" sz="3400" b="1" dirty="0">
                <a:solidFill>
                  <a:srgbClr val="151515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s-ES" sz="3400" b="1" dirty="0">
                <a:solidFill>
                  <a:srgbClr val="379DF6"/>
                </a:solidFill>
                <a:latin typeface="Figtree"/>
                <a:ea typeface="Figtree"/>
                <a:cs typeface="Figtree"/>
                <a:sym typeface="Figtree"/>
              </a:rPr>
              <a:t>Naaloo</a:t>
            </a:r>
            <a:endParaRPr sz="3400" dirty="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876503" y="10552973"/>
            <a:ext cx="8134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rgbClr val="001F4E"/>
                </a:solidFill>
                <a:latin typeface="Figtree" pitchFamily="2" charset="0"/>
              </a:rPr>
              <a:t>Fuente: Encuesta anual de satisfacción </a:t>
            </a:r>
            <a:r>
              <a:rPr lang="es-MX" sz="1600" dirty="0" err="1">
                <a:solidFill>
                  <a:srgbClr val="001F4E"/>
                </a:solidFill>
                <a:latin typeface="Figtree" pitchFamily="2" charset="0"/>
              </a:rPr>
              <a:t>Naaloo</a:t>
            </a:r>
            <a:r>
              <a:rPr lang="es-MX" sz="1600" dirty="0">
                <a:solidFill>
                  <a:srgbClr val="001F4E"/>
                </a:solidFill>
                <a:latin typeface="Figtree" pitchFamily="2" charset="0"/>
              </a:rPr>
              <a:t> </a:t>
            </a:r>
            <a:r>
              <a:rPr lang="es-MX" sz="1600" dirty="0" smtClean="0">
                <a:solidFill>
                  <a:srgbClr val="001F4E"/>
                </a:solidFill>
                <a:latin typeface="Figtree" pitchFamily="2" charset="0"/>
              </a:rPr>
              <a:t>2025.</a:t>
            </a:r>
            <a:endParaRPr lang="en-US" sz="1600" dirty="0">
              <a:solidFill>
                <a:srgbClr val="001F4E"/>
              </a:solidFill>
              <a:latin typeface="Figtree" pitchFamily="2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875" y="2614124"/>
            <a:ext cx="2581462" cy="34968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059" y="2596539"/>
            <a:ext cx="2756303" cy="3825913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290" y="7045835"/>
            <a:ext cx="7522817" cy="267658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0168" y="6273991"/>
            <a:ext cx="7104002" cy="3905124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0069" y="2492457"/>
            <a:ext cx="5703007" cy="27765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9158600" y="-112850"/>
            <a:ext cx="10945500" cy="11422200"/>
          </a:xfrm>
          <a:prstGeom prst="rect">
            <a:avLst/>
          </a:prstGeom>
          <a:solidFill>
            <a:srgbClr val="E6F3FF">
              <a:alpha val="408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22" name="Google Shape;222;p19"/>
          <p:cNvSpPr txBox="1">
            <a:spLocks noGrp="1"/>
          </p:cNvSpPr>
          <p:nvPr>
            <p:ph type="title"/>
          </p:nvPr>
        </p:nvSpPr>
        <p:spPr>
          <a:xfrm>
            <a:off x="1625775" y="2125300"/>
            <a:ext cx="6102600" cy="141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325" rIns="0" bIns="0" anchor="t" anchorCtr="0">
            <a:spAutoFit/>
          </a:bodyPr>
          <a:lstStyle/>
          <a:p>
            <a:pPr marL="12700" marR="5080" lvl="0" indent="0" algn="l" rtl="0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 dirty="0">
                <a:solidFill>
                  <a:srgbClr val="3AA0F8"/>
                </a:solidFill>
                <a:latin typeface="Figtree"/>
                <a:ea typeface="Figtree"/>
                <a:cs typeface="Figtree"/>
                <a:sym typeface="Figtree"/>
              </a:rPr>
              <a:t>Desbloquea</a:t>
            </a:r>
            <a:r>
              <a:rPr lang="es-ES" sz="50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 el siguiente nivel</a:t>
            </a:r>
            <a:endParaRPr sz="50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3" name="Google Shape;223;p19"/>
          <p:cNvSpPr txBox="1"/>
          <p:nvPr/>
        </p:nvSpPr>
        <p:spPr>
          <a:xfrm>
            <a:off x="1632900" y="4040925"/>
            <a:ext cx="5821500" cy="28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975" rIns="0" bIns="0" anchor="t" anchorCtr="0">
            <a:sp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dirty="0">
                <a:solidFill>
                  <a:srgbClr val="152F72"/>
                </a:solidFill>
                <a:latin typeface="Figtree"/>
                <a:ea typeface="Figtree"/>
                <a:cs typeface="Figtree"/>
                <a:sym typeface="Figtree"/>
              </a:rPr>
              <a:t>Estamos listos para acompañarte en esta transformación. Solo necesitamos tu OK, y nuestro equipo se encargará de que la implementación sea simple y efectiva desde el primer día.</a:t>
            </a:r>
            <a:endParaRPr sz="26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12700" marR="5080" lvl="0" indent="0" algn="l" rtl="0">
              <a:lnSpc>
                <a:spcPct val="110000"/>
              </a:lnSpc>
              <a:spcBef>
                <a:spcPts val="10"/>
              </a:spcBef>
              <a:spcAft>
                <a:spcPts val="0"/>
              </a:spcAft>
              <a:buNone/>
            </a:pPr>
            <a:endParaRPr sz="2600" dirty="0">
              <a:solidFill>
                <a:srgbClr val="152F7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25" name="Google Shape;2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3725" y="7170148"/>
            <a:ext cx="2832500" cy="7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90075" y="-1553674"/>
            <a:ext cx="7820751" cy="1441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25" y="8766572"/>
            <a:ext cx="3543977" cy="6120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1515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4367</TotalTime>
  <Words>975</Words>
  <Application>Microsoft Office PowerPoint</Application>
  <PresentationFormat>Personalizado</PresentationFormat>
  <Paragraphs>127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Calibri</vt:lpstr>
      <vt:lpstr>Trebuchet MS</vt:lpstr>
      <vt:lpstr>Figtree Medium</vt:lpstr>
      <vt:lpstr>Figtree</vt:lpstr>
      <vt:lpstr>Arial</vt:lpstr>
      <vt:lpstr>Figtree SemiBold</vt:lpstr>
      <vt:lpstr>Office Theme</vt:lpstr>
      <vt:lpstr>Presentación de PowerPoint</vt:lpstr>
      <vt:lpstr>Presentación de PowerPoint</vt:lpstr>
      <vt:lpstr>Qué beneficios vamos a ofrecer</vt:lpstr>
      <vt:lpstr>¡Naaloo en números! Beneficios medibles</vt:lpstr>
      <vt:lpstr>Funcionalidades incluidas</vt:lpstr>
      <vt:lpstr>Propuesta Naaloo</vt:lpstr>
      <vt:lpstr>Propuesta Naaloo</vt:lpstr>
      <vt:lpstr>Especificaciones Propuesta Naaloo</vt:lpstr>
      <vt:lpstr>Presentación de PowerPoint</vt:lpstr>
      <vt:lpstr>Te acompañamos en cada paso</vt:lpstr>
      <vt:lpstr>¡Sumarte tiene un impacto  positivo para el mundo!</vt:lpstr>
      <vt:lpstr>Presentación de PowerPoint</vt:lpstr>
      <vt:lpstr>Tu experiencia es nuestra prioridad</vt:lpstr>
      <vt:lpstr>Desbloquea el siguiente nivel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77</cp:revision>
  <dcterms:modified xsi:type="dcterms:W3CDTF">2026-10-01T14:19:59Z</dcterms:modified>
</cp:coreProperties>
</file>