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1309350" cx="20104100"/>
  <p:notesSz cx="20104100" cy="11309350"/>
  <p:embeddedFontLst>
    <p:embeddedFont>
      <p:font typeface="Figtree"/>
      <p:regular r:id="rId18"/>
      <p:bold r:id="rId19"/>
      <p:italic r:id="rId20"/>
      <p:boldItalic r:id="rId21"/>
    </p:embeddedFont>
    <p:embeddedFont>
      <p:font typeface="Figtree Medium"/>
      <p:regular r:id="rId22"/>
      <p:bold r:id="rId23"/>
      <p:italic r:id="rId24"/>
      <p:boldItalic r:id="rId25"/>
    </p:embeddedFont>
    <p:embeddedFont>
      <p:font typeface="Figtree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2UhRb73auxeG3poitadc9X1ns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-italic.fntdata"/><Relationship Id="rId22" Type="http://schemas.openxmlformats.org/officeDocument/2006/relationships/font" Target="fonts/FigtreeMedium-regular.fntdata"/><Relationship Id="rId21" Type="http://schemas.openxmlformats.org/officeDocument/2006/relationships/font" Target="fonts/Figtree-boldItalic.fntdata"/><Relationship Id="rId24" Type="http://schemas.openxmlformats.org/officeDocument/2006/relationships/font" Target="fonts/FigtreeMedium-italic.fntdata"/><Relationship Id="rId23" Type="http://schemas.openxmlformats.org/officeDocument/2006/relationships/font" Target="fonts/Figtree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gtreeSemiBold-regular.fntdata"/><Relationship Id="rId25" Type="http://schemas.openxmlformats.org/officeDocument/2006/relationships/font" Target="fonts/FigtreeMedium-boldItalic.fntdata"/><Relationship Id="rId28" Type="http://schemas.openxmlformats.org/officeDocument/2006/relationships/font" Target="fonts/FigtreeSemiBold-italic.fntdata"/><Relationship Id="rId27" Type="http://schemas.openxmlformats.org/officeDocument/2006/relationships/font" Target="fonts/FigtreeSemi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gtree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Figtree-bold.fntdata"/><Relationship Id="rId18" Type="http://schemas.openxmlformats.org/officeDocument/2006/relationships/font" Target="fonts/Figtre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3364584" y="2557291"/>
            <a:ext cx="5529580" cy="630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3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50" u="none" cap="none" strike="noStrik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50" u="none" cap="none" strike="noStrik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5389550" y="7529356"/>
            <a:ext cx="9403410" cy="62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Propuesta Comercial para </a:t>
            </a:r>
            <a:r>
              <a:rPr b="1" i="0" lang="es-ES" sz="3500" u="none" cap="none" strike="noStrike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[empresa]</a:t>
            </a:r>
            <a:endParaRPr b="1" i="0" sz="3500" u="none" cap="none" strike="noStrike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5" y="-36113"/>
            <a:ext cx="817850" cy="113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-3005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02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0" name="Google Shape;50;p2"/>
          <p:cNvSpPr txBox="1"/>
          <p:nvPr/>
        </p:nvSpPr>
        <p:spPr>
          <a:xfrm rot="-5400000">
            <a:off x="-755900" y="824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Sobre Naaloo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8905" y="1622328"/>
            <a:ext cx="16666286" cy="8064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8236350" y="0"/>
            <a:ext cx="11867700" cy="113094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3"/>
          <p:cNvSpPr txBox="1"/>
          <p:nvPr>
            <p:ph type="title"/>
          </p:nvPr>
        </p:nvSpPr>
        <p:spPr>
          <a:xfrm>
            <a:off x="1833903" y="1188967"/>
            <a:ext cx="4995521" cy="127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5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Qué </a:t>
            </a:r>
            <a:r>
              <a:rPr lang="es-ES" sz="45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beneficios </a:t>
            </a:r>
            <a:r>
              <a:rPr lang="es-ES" sz="45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vamos a ofrecer</a:t>
            </a:r>
            <a:endParaRPr sz="45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1833904" y="2875443"/>
            <a:ext cx="5548800" cy="1319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 va a simplificar tu gestión con </a:t>
            </a:r>
            <a:r>
              <a:rPr b="1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menos carga laboral</a:t>
            </a:r>
            <a:r>
              <a:rPr b="0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b="1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y</a:t>
            </a:r>
            <a:r>
              <a:rPr b="0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b="1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mejores resultados.</a:t>
            </a:r>
            <a:endParaRPr b="0" i="0" sz="28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9290900" y="1180549"/>
            <a:ext cx="2630100" cy="2256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46228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Ahorro de hasta 60% de tiempo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Reducción de horas y costos administrativos, automatizando tareas repetitivas.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9290900" y="3947750"/>
            <a:ext cx="26409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5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Mobile &amp; 24/7</a:t>
            </a:r>
            <a:endParaRPr b="0" i="0" sz="2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42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Gestionable desde cualquier computadora o celular con Internet, las 24 hs.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12687450" y="1189275"/>
            <a:ext cx="2851800" cy="2269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112395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Comunicaciones simples y unificadas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2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Contacta a todos los colaboradores en tiempo real, con datos de lectura y entendimiento.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16303650" y="1189275"/>
            <a:ext cx="2235900" cy="2282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64515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Gestión centralizada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33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Toda la información e interacciones con tus equipos, en un solo lugar.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12687450" y="3999150"/>
            <a:ext cx="2865900" cy="2551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Menos tareas, menos papel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17780" rtl="0" algn="l">
              <a:lnSpc>
                <a:spcPct val="133333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Automatización y digitalización de firma de recibos (y de cualquier documento) con validez legal.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16303650" y="3796698"/>
            <a:ext cx="2550000" cy="24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900">
            <a:spAutoFit/>
          </a:bodyPr>
          <a:lstStyle/>
          <a:p>
            <a:pPr indent="0" lvl="0" marL="1270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Home Office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 el trabajo remoto en el acto con fichaje, gestión de entregas y todo lo que necesitas.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9295950" y="7182525"/>
            <a:ext cx="2905200" cy="287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883285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Workflows automatizados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411480" rtl="0" algn="l">
              <a:lnSpc>
                <a:spcPct val="133333"/>
              </a:lnSpc>
              <a:spcBef>
                <a:spcPts val="119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Optimiza y agiliza la solicitud y aprobación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 ausencias, vacaciones,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248920" rtl="0" algn="just">
              <a:lnSpc>
                <a:spcPct val="133333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entregas de equipos de trabajo, capacitaciones y más.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6303650" y="7198201"/>
            <a:ext cx="27591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Siempre actualizada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34925" rtl="0" algn="l">
              <a:lnSpc>
                <a:spcPct val="133333"/>
              </a:lnSpc>
              <a:spcBef>
                <a:spcPts val="175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Mejora continua de herramientas y funcionalidades en base a la experiencia de los usuarios, sin costo.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12655991" y="7074224"/>
            <a:ext cx="27171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5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Simple y rápida</a:t>
            </a:r>
            <a:endParaRPr b="0" i="0" sz="2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42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Implementación veloz y aprendizaje intuitivo.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-271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03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70" name="Google Shape;70;p3"/>
          <p:cNvSpPr txBox="1"/>
          <p:nvPr/>
        </p:nvSpPr>
        <p:spPr>
          <a:xfrm rot="-5400000">
            <a:off x="-755900" y="443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3341" y="5105994"/>
            <a:ext cx="6721909" cy="508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0535" y="6562126"/>
            <a:ext cx="3157778" cy="590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 amt="74000"/>
          </a:blip>
          <a:srcRect b="0" l="0" r="0" t="0"/>
          <a:stretch/>
        </p:blipFill>
        <p:spPr>
          <a:xfrm>
            <a:off x="0" y="0"/>
            <a:ext cx="20104100" cy="36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>
            <p:ph type="title"/>
          </p:nvPr>
        </p:nvSpPr>
        <p:spPr>
          <a:xfrm>
            <a:off x="1846600" y="773350"/>
            <a:ext cx="6533700" cy="134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12700" marR="5080" rtl="0" algn="l">
              <a:lnSpc>
                <a:spcPct val="11463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¡Naaloo 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 números! Beneficios medibles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0707100" y="936410"/>
            <a:ext cx="7697400" cy="83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Recupera tu inversión en tiempo récord y acelera </a:t>
            </a:r>
            <a:br>
              <a:rPr b="0" i="0" lang="es-ES" sz="2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b="0" i="0" lang="es-ES" sz="2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crecimiento desde el día uno.</a:t>
            </a:r>
            <a:endParaRPr/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-17560" y="1020100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04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2" name="Google Shape;82;p4"/>
          <p:cNvSpPr txBox="1"/>
          <p:nvPr/>
        </p:nvSpPr>
        <p:spPr>
          <a:xfrm rot="-5400000">
            <a:off x="-700325" y="503925"/>
            <a:ext cx="2218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694200" y="2959826"/>
            <a:ext cx="17581824" cy="675124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4" name="Google Shape;84;p4"/>
          <p:cNvSpPr txBox="1"/>
          <p:nvPr/>
        </p:nvSpPr>
        <p:spPr>
          <a:xfrm>
            <a:off x="1694200" y="10417214"/>
            <a:ext cx="7697400" cy="435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Fuente: </a:t>
            </a:r>
            <a:r>
              <a:rPr b="0" i="0" lang="es-ES" sz="20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Resultados de usuarios de Naaloo 2025.</a:t>
            </a:r>
            <a:endParaRPr b="0" i="0" sz="20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5"/>
          <p:cNvPicPr preferRelativeResize="0"/>
          <p:nvPr/>
        </p:nvPicPr>
        <p:blipFill rotWithShape="1">
          <a:blip r:embed="rId3">
            <a:alphaModFix amt="74000"/>
          </a:blip>
          <a:srcRect b="0" l="0" r="0" t="0"/>
          <a:stretch/>
        </p:blipFill>
        <p:spPr>
          <a:xfrm>
            <a:off x="0" y="0"/>
            <a:ext cx="20104100" cy="42556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/>
          <p:nvPr>
            <p:ph type="title"/>
          </p:nvPr>
        </p:nvSpPr>
        <p:spPr>
          <a:xfrm>
            <a:off x="1846598" y="773357"/>
            <a:ext cx="81750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12700" marR="5080" rtl="0" algn="l">
              <a:lnSpc>
                <a:spcPct val="10391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Funcionalidades</a:t>
            </a:r>
            <a:r>
              <a:rPr lang="es-ES" sz="410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incluidas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0915524" y="835305"/>
            <a:ext cx="6729600" cy="781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Herramientas simples y potentes diseñadas para llevar tu gestión al siguiente nivel.</a:t>
            </a:r>
            <a:endParaRPr b="0" i="0" sz="24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1771481" y="2713860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s-ES" sz="245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Gestión Centralizada</a:t>
            </a:r>
            <a:endParaRPr b="0" i="0" sz="245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839886" y="3212852"/>
            <a:ext cx="3052154" cy="45719"/>
          </a:xfrm>
          <a:prstGeom prst="rect">
            <a:avLst/>
          </a:prstGeom>
          <a:solidFill>
            <a:srgbClr val="9D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6270838" y="269405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s-ES" sz="245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Procesos automatizados</a:t>
            </a:r>
            <a:endParaRPr b="0" i="0" sz="245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369723" y="3193048"/>
            <a:ext cx="3464700" cy="47926"/>
          </a:xfrm>
          <a:prstGeom prst="rect">
            <a:avLst/>
          </a:prstGeom>
          <a:solidFill>
            <a:srgbClr val="00D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0756873" y="269627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s-ES" sz="245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Comunicación y Equipo</a:t>
            </a:r>
            <a:endParaRPr b="0" i="0" sz="245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825278" y="3195267"/>
            <a:ext cx="3464700" cy="45719"/>
          </a:xfrm>
          <a:prstGeom prst="rect">
            <a:avLst/>
          </a:prstGeom>
          <a:solidFill>
            <a:srgbClr val="379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5144825" y="2713848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s-ES" sz="245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Desarrollo y Performance</a:t>
            </a:r>
            <a:endParaRPr b="0" i="0" sz="245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5244298" y="3195255"/>
            <a:ext cx="3614032" cy="45719"/>
          </a:xfrm>
          <a:prstGeom prst="rect">
            <a:avLst/>
          </a:prstGeom>
          <a:solidFill>
            <a:srgbClr val="FFCD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/>
          <p:nvPr/>
        </p:nvSpPr>
        <p:spPr>
          <a:xfrm>
            <a:off x="-2712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05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 rot="-5400000">
            <a:off x="-1058900" y="87775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Funcionalidades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03" name="Google Shape;1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6272" y="3696367"/>
            <a:ext cx="16276302" cy="6034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2330539" y="10442194"/>
            <a:ext cx="6729600" cy="4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152F7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Funcionalidad bonificada</a:t>
            </a:r>
            <a:endParaRPr b="0" i="0" sz="2200" u="none" cap="none" strike="noStrike">
              <a:solidFill>
                <a:srgbClr val="152F7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81854" y="4899308"/>
            <a:ext cx="346560" cy="35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43718" y="3862657"/>
            <a:ext cx="346560" cy="35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9886" y="10470881"/>
            <a:ext cx="346560" cy="35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/>
          <p:nvPr/>
        </p:nvSpPr>
        <p:spPr>
          <a:xfrm>
            <a:off x="10772550" y="2072640"/>
            <a:ext cx="7854600" cy="8696860"/>
          </a:xfrm>
          <a:prstGeom prst="roundRect">
            <a:avLst>
              <a:gd name="adj" fmla="val 4639"/>
            </a:avLst>
          </a:prstGeom>
          <a:solidFill>
            <a:srgbClr val="F2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10935300" y="8854440"/>
            <a:ext cx="7529100" cy="1767839"/>
          </a:xfrm>
          <a:prstGeom prst="roundRect">
            <a:avLst>
              <a:gd name="adj" fmla="val 10244"/>
            </a:avLst>
          </a:prstGeom>
          <a:solidFill>
            <a:srgbClr val="C5E5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109475" y="2072640"/>
            <a:ext cx="7854600" cy="8696860"/>
          </a:xfrm>
          <a:prstGeom prst="roundRect">
            <a:avLst>
              <a:gd name="adj" fmla="val 4639"/>
            </a:avLst>
          </a:prstGeom>
          <a:solidFill>
            <a:srgbClr val="F2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2222996" y="8854440"/>
            <a:ext cx="7606804" cy="1767839"/>
          </a:xfrm>
          <a:prstGeom prst="roundRect">
            <a:avLst>
              <a:gd name="adj" fmla="val 10244"/>
            </a:avLst>
          </a:prstGeom>
          <a:solidFill>
            <a:srgbClr val="C5E5FC"/>
          </a:solidFill>
          <a:ln w="9525" cap="flat" cmpd="sng">
            <a:solidFill>
              <a:srgbClr val="E6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2177275" y="744124"/>
            <a:ext cx="642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Propuesta </a:t>
            </a:r>
            <a:r>
              <a:rPr lang="es-ES" sz="38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9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3392150" y="814364"/>
            <a:ext cx="5235000" cy="448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Fecha: </a:t>
            </a:r>
            <a:r>
              <a:rPr lang="es-ES" sz="2800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15/10/25</a:t>
            </a:r>
            <a:endParaRPr sz="2800" dirty="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3175140" y="4315422"/>
            <a:ext cx="60708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Cantidad de usuarios: 350  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3175111" y="5053999"/>
            <a:ext cx="60708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Almacenamiento disponible: 20 GB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/>
          </p:nvPr>
        </p:nvSpPr>
        <p:spPr>
          <a:xfrm>
            <a:off x="2717292" y="2496232"/>
            <a:ext cx="41475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Licencia Software</a:t>
            </a:r>
            <a:endParaRPr sz="27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2727150" y="9019580"/>
            <a:ext cx="6038512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Licencia: </a:t>
            </a:r>
            <a:r>
              <a:rPr lang="es-ES" sz="22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</a:t>
            </a:r>
            <a:r>
              <a:rPr lang="es-ES" sz="22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154.000 + IVA </a:t>
            </a:r>
            <a:endParaRPr sz="22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13"/>
          <p:cNvSpPr txBox="1">
            <a:spLocks noGrp="1"/>
          </p:cNvSpPr>
          <p:nvPr>
            <p:ph type="body" idx="1"/>
          </p:nvPr>
        </p:nvSpPr>
        <p:spPr>
          <a:xfrm>
            <a:off x="3175151" y="3239580"/>
            <a:ext cx="68259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Sistema de gestión de RRHH con los módulos especificados.    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3523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460990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5266304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8750"/>
            <a:ext cx="817850" cy="1136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-2489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06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 Naaloo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11858778" y="4223990"/>
            <a:ext cx="6407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Creación de base de datos y parametrización de la plataforma.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1"/>
          </p:nvPr>
        </p:nvSpPr>
        <p:spPr>
          <a:xfrm>
            <a:off x="11858775" y="5372240"/>
            <a:ext cx="64077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Alta y notificación del personal con usuarios y claves.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/>
          </p:nvPr>
        </p:nvSpPr>
        <p:spPr>
          <a:xfrm>
            <a:off x="11413654" y="2458130"/>
            <a:ext cx="6401906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/>
            <a:r>
              <a:rPr lang="en-U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Onboarding </a:t>
            </a:r>
            <a:r>
              <a:rPr lang="en-US" sz="2700" dirty="0" err="1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inmediato</a:t>
            </a:r>
            <a:r>
              <a:rPr lang="en-US" sz="2700" dirty="0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 </a:t>
            </a:r>
            <a:r>
              <a:rPr lang="en-U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y </a:t>
            </a:r>
            <a:r>
              <a:rPr lang="en-US" sz="2700" dirty="0" err="1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Capacitación</a:t>
            </a:r>
            <a:endParaRPr sz="27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1"/>
          </p:nvPr>
        </p:nvSpPr>
        <p:spPr>
          <a:xfrm>
            <a:off x="11858800" y="3239580"/>
            <a:ext cx="6425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Personalización del diseño en base a la identidad de la compañía.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4" name="Google Shape;14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3535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451846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554676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 txBox="1">
            <a:spLocks noGrp="1"/>
          </p:cNvSpPr>
          <p:nvPr>
            <p:ph type="body" idx="1"/>
          </p:nvPr>
        </p:nvSpPr>
        <p:spPr>
          <a:xfrm>
            <a:off x="11858750" y="6398365"/>
            <a:ext cx="694741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 (dos) sesiones de capacitación en todas las funcionalidades de Naaloo para administradores.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8" name="Google Shape;1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655410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>
            <a:spLocks noGrp="1"/>
          </p:cNvSpPr>
          <p:nvPr>
            <p:ph type="body" idx="1"/>
          </p:nvPr>
        </p:nvSpPr>
        <p:spPr>
          <a:xfrm>
            <a:off x="3175100" y="5663355"/>
            <a:ext cx="6825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Gestión de Desempeño: </a:t>
            </a:r>
            <a:r>
              <a:rPr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0" name="Google Shape;15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605955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 txBox="1">
            <a:spLocks noGrp="1"/>
          </p:cNvSpPr>
          <p:nvPr>
            <p:ph type="body" idx="1"/>
          </p:nvPr>
        </p:nvSpPr>
        <p:spPr>
          <a:xfrm>
            <a:off x="3175151" y="6623630"/>
            <a:ext cx="60708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Reclutamiento: </a:t>
            </a:r>
            <a:r>
              <a:rPr lang="es-ES" sz="23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2" name="Google Shape;15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6868879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;p13">
            <a:extLst>
              <a:ext uri="{FF2B5EF4-FFF2-40B4-BE49-F238E27FC236}">
                <a16:creationId xmlns:a16="http://schemas.microsoft.com/office/drawing/2014/main" id="{A62EB8E7-D096-6CB2-486B-DAB70D0F5768}"/>
              </a:ext>
            </a:extLst>
          </p:cNvPr>
          <p:cNvSpPr txBox="1"/>
          <p:nvPr/>
        </p:nvSpPr>
        <p:spPr>
          <a:xfrm>
            <a:off x="5427853" y="9969505"/>
            <a:ext cx="4147500" cy="474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Recurso excedente: $</a:t>
            </a:r>
            <a:r>
              <a:rPr lang="es-ES" sz="17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2.400 + IVA</a:t>
            </a:r>
            <a:endParaRPr lang="es-ES" sz="17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" name="Google Shape;124;p13"/>
          <p:cNvSpPr/>
          <p:nvPr/>
        </p:nvSpPr>
        <p:spPr>
          <a:xfrm>
            <a:off x="2644044" y="9763013"/>
            <a:ext cx="2893155" cy="526532"/>
          </a:xfrm>
          <a:prstGeom prst="roundRect">
            <a:avLst>
              <a:gd name="adj" fmla="val 17480"/>
            </a:avLst>
          </a:prstGeom>
          <a:solidFill>
            <a:srgbClr val="F2FAF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130;p13"/>
          <p:cNvSpPr txBox="1"/>
          <p:nvPr/>
        </p:nvSpPr>
        <p:spPr>
          <a:xfrm>
            <a:off x="2758784" y="9619264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Frecuencia</a:t>
            </a:r>
            <a:r>
              <a:rPr lang="es-ES" sz="22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  <a:r>
              <a:rPr lang="es-ES" sz="22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Mensual</a:t>
            </a:r>
            <a:endParaRPr sz="22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" name="Google Shape;130;p13"/>
          <p:cNvSpPr txBox="1"/>
          <p:nvPr/>
        </p:nvSpPr>
        <p:spPr>
          <a:xfrm>
            <a:off x="11524385" y="9019580"/>
            <a:ext cx="6042646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total: </a:t>
            </a:r>
            <a:r>
              <a:rPr lang="es-ES" sz="22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</a:t>
            </a:r>
            <a:endParaRPr sz="22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8" name="Google Shape;124;p13"/>
          <p:cNvSpPr/>
          <p:nvPr/>
        </p:nvSpPr>
        <p:spPr>
          <a:xfrm>
            <a:off x="11441280" y="9763013"/>
            <a:ext cx="3067200" cy="526532"/>
          </a:xfrm>
          <a:prstGeom prst="roundRect">
            <a:avLst>
              <a:gd name="adj" fmla="val 17480"/>
            </a:avLst>
          </a:prstGeom>
          <a:solidFill>
            <a:srgbClr val="F2FAF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" name="Google Shape;130;p13"/>
          <p:cNvSpPr txBox="1"/>
          <p:nvPr/>
        </p:nvSpPr>
        <p:spPr>
          <a:xfrm>
            <a:off x="11558177" y="9596382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Frecuencia</a:t>
            </a:r>
            <a:r>
              <a:rPr lang="es-ES" sz="22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  <a:r>
              <a:rPr lang="es-ES" sz="22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Única vez</a:t>
            </a:r>
            <a:endParaRPr sz="22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0" name="Google Shape;147;p13"/>
          <p:cNvSpPr txBox="1">
            <a:spLocks noGrp="1"/>
          </p:cNvSpPr>
          <p:nvPr>
            <p:ph type="body" idx="1"/>
          </p:nvPr>
        </p:nvSpPr>
        <p:spPr>
          <a:xfrm>
            <a:off x="11893922" y="7567907"/>
            <a:ext cx="6407700" cy="31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/>
            <a:r>
              <a:rPr lang="es-MX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Soporte especial por WhatsApp por 30 días.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1" name="Google Shape;1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7672379"/>
            <a:ext cx="233794" cy="241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1996550"/>
            <a:ext cx="20125500" cy="93888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1799875" y="656700"/>
            <a:ext cx="101931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85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Especificaciones </a:t>
            </a:r>
            <a:r>
              <a:rPr lang="es-ES" sz="385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Propuesta Naaloo</a:t>
            </a:r>
            <a:endParaRPr sz="3850">
              <a:solidFill>
                <a:srgbClr val="152F72"/>
              </a:solidFill>
            </a:endParaRPr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1799875" y="2778865"/>
            <a:ext cx="8117700" cy="81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Impuestos y moneda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presupuestados no incluyen IVA y la moneda de pago es pesos argentinos.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Factura inicial y activación de la cuenta 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Una vez aceptada la propuesta y recibida la información solicitada, el equipo de Administración procesará el alta y enviará la factura inicial correspondiente. La factura tiene una vigencia de 5 días hábiles para mantener las condiciones comerciales acordadas. Con el pago, comienza la activación de la cuenta: el equipo de Activación se contactará dentro de las 24 horas para coordinar la reunión de inicio y dar curso a la implementación. La implementación no tiene costo.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Facturación recurrente de la licencia mensual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 partir de la confirmación del cobro de la factura inicial, el servicio se considera activo y comienza el ciclo de facturación mensual y recurrente. El día 01 de cada mes recibirán por correo electrónico la factura correspondiente y deberá ser abonada sin excepciones. Condiciones de pago: 10 días ff. La mora se producirá de forma automática al día siguiente de cumplirse dicho plazo.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Condiciones de la propuesta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El plazo de validez de esta propuesta es de 15 días a partir de su emisión.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9067" y="727950"/>
            <a:ext cx="1636959" cy="47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7"/>
          <p:cNvGrpSpPr/>
          <p:nvPr/>
        </p:nvGrpSpPr>
        <p:grpSpPr>
          <a:xfrm>
            <a:off x="-24895" y="-159500"/>
            <a:ext cx="842746" cy="11474140"/>
            <a:chOff x="-24895" y="-159500"/>
            <a:chExt cx="842746" cy="11474140"/>
          </a:xfrm>
        </p:grpSpPr>
        <p:pic>
          <p:nvPicPr>
            <p:cNvPr id="163" name="Google Shape;163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5289"/>
              <a:ext cx="817851" cy="11309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7"/>
            <p:cNvSpPr txBox="1"/>
            <p:nvPr/>
          </p:nvSpPr>
          <p:spPr>
            <a:xfrm>
              <a:off x="-24895" y="10211350"/>
              <a:ext cx="817800" cy="94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rgbClr val="152F72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 07</a:t>
              </a:r>
              <a:endParaRPr b="0" i="0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65" name="Google Shape;165;p7"/>
            <p:cNvSpPr txBox="1"/>
            <p:nvPr/>
          </p:nvSpPr>
          <p:spPr>
            <a:xfrm rot="-5400000">
              <a:off x="-1116425" y="1021450"/>
              <a:ext cx="3050700" cy="6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s-ES" sz="2200" u="none" cap="none" strike="noStrike">
                  <a:solidFill>
                    <a:srgbClr val="3AA0F8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Propuesta Naaloo</a:t>
              </a:r>
              <a:endParaRPr b="0" i="0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10899600" y="2778875"/>
            <a:ext cx="8117700" cy="7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Descuentos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Por medio de pago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Obtén un 10% de descuento en tu presupuesto al adherirse al débito automático.</a:t>
            </a:r>
            <a:endParaRPr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Por pago anticipado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 abonas de forma anticipada, obtendrás: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15% de descuento al pagar un año completo.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20% de descuento por dos años.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25% de descuento por tres años.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*No se ofrece reembolso si se decide dejar de usar la suscripción a Naaloo durante el Plazo de Suscripción.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de tarifas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se actualizarán trimestralmente en enero, abril, julio y octubre, según la variación del IPC publicado por el INDEC.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tecnológica (I+D)</a:t>
            </a:r>
            <a:endParaRPr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 incorpora nuevas funcionalidades, mejoras y actualizaciones de forma permanente, todas están incluidas en tu licencia y sin costo por módulo. Para sostener esa evolución, en Julio y Enero se cobrará de manera única un 5% sobre la licencia mensual, adicional a la actualización por IPC.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 amt="66000"/>
          </a:blip>
          <a:srcRect b="0" l="0" r="0" t="0"/>
          <a:stretch/>
        </p:blipFill>
        <p:spPr>
          <a:xfrm rot="10800000">
            <a:off x="457202" y="-401"/>
            <a:ext cx="19646898" cy="113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2477150" y="3635219"/>
            <a:ext cx="4515600" cy="2024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1925">
            <a:spAutoFit/>
          </a:bodyPr>
          <a:lstStyle/>
          <a:p>
            <a:pPr indent="0" lvl="0" marL="12700" marR="5080" rtl="0" algn="l">
              <a:lnSpc>
                <a:spcPct val="103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camino con </a:t>
            </a:r>
            <a:r>
              <a:rPr b="1" i="0" lang="es-ES" sz="6800" u="none" cap="none" strike="noStrike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b="0" i="0" sz="68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2477150" y="6110329"/>
            <a:ext cx="5048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s-ES" sz="37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Timeline de implementación</a:t>
            </a:r>
            <a:endParaRPr b="0" i="0" sz="37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5" y="-88500"/>
            <a:ext cx="817850" cy="1139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-274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08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6" name="Google Shape;176;p8"/>
          <p:cNvSpPr txBox="1"/>
          <p:nvPr/>
        </p:nvSpPr>
        <p:spPr>
          <a:xfrm rot="-5400000">
            <a:off x="-1058900" y="88870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Implementación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599516" y="-88500"/>
            <a:ext cx="13028948" cy="1148674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>
            <p:ph type="title"/>
          </p:nvPr>
        </p:nvSpPr>
        <p:spPr>
          <a:xfrm>
            <a:off x="1708772" y="1286350"/>
            <a:ext cx="82473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Te acompañamos en </a:t>
            </a:r>
            <a:r>
              <a:rPr lang="es-ES" sz="40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cada paso</a:t>
            </a:r>
            <a:endParaRPr sz="4000">
              <a:solidFill>
                <a:srgbClr val="379DF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9500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 txBox="1"/>
          <p:nvPr/>
        </p:nvSpPr>
        <p:spPr>
          <a:xfrm>
            <a:off x="1027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09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85" name="Google Shape;185;p9"/>
          <p:cNvSpPr txBox="1"/>
          <p:nvPr/>
        </p:nvSpPr>
        <p:spPr>
          <a:xfrm rot="-5400000">
            <a:off x="-1116425" y="308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80917" y="1318500"/>
            <a:ext cx="1636959" cy="4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8772" y="3437692"/>
            <a:ext cx="17509104" cy="6402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-50" y="-83250"/>
            <a:ext cx="20104200" cy="114687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3" name="Google Shape;193;p10"/>
          <p:cNvSpPr txBox="1"/>
          <p:nvPr>
            <p:ph type="title"/>
          </p:nvPr>
        </p:nvSpPr>
        <p:spPr>
          <a:xfrm>
            <a:off x="1697576" y="1687750"/>
            <a:ext cx="8537400" cy="1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12700" marR="5080" rtl="0" algn="l">
              <a:lnSpc>
                <a:spcPct val="11463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¡Sumarte tiene un </a:t>
            </a:r>
            <a:r>
              <a:rPr lang="es-ES" sz="410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impacto </a:t>
            </a:r>
            <a:endParaRPr sz="4100">
              <a:solidFill>
                <a:srgbClr val="379FF8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1463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positivo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para el mundo!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10770610" y="1792227"/>
            <a:ext cx="85053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152F7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Sabemos que no solo quieres mejorar a tu equipo, quieres cambiar el planeta y Naaloo lo lleva en su ADN. Por eso, cuando te unes a nuestra comunidad, estás haciendo mucho más que mejorar tu gestión. ¡Mira!</a:t>
            </a:r>
            <a:endParaRPr b="0" i="0" sz="2200" u="none" cap="none" strike="noStrike">
              <a:solidFill>
                <a:srgbClr val="152F7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8000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0052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141915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10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 rot="-5400000">
            <a:off x="-1116425" y="640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Bosque Naaloo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3775" y="785100"/>
            <a:ext cx="1541925" cy="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6" y="0"/>
            <a:ext cx="20105512" cy="113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445" y="0"/>
            <a:ext cx="1032244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 txBox="1"/>
          <p:nvPr>
            <p:ph type="title"/>
          </p:nvPr>
        </p:nvSpPr>
        <p:spPr>
          <a:xfrm>
            <a:off x="2043215" y="976718"/>
            <a:ext cx="5169408" cy="962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4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experiencia es nuestra </a:t>
            </a:r>
            <a:r>
              <a:rPr lang="es-ES" sz="34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prioridad</a:t>
            </a:r>
            <a:endParaRPr sz="340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12" name="Google Shape;2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1785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2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12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Nuestros clientes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1600168" y="995768"/>
            <a:ext cx="6116332" cy="963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Nuestros usuarios recomiendan</a:t>
            </a:r>
            <a:r>
              <a:rPr b="1" i="0" lang="es-ES" sz="3400" u="none" cap="none" strike="noStrike">
                <a:solidFill>
                  <a:srgbClr val="151515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b="1" i="0" lang="es-ES" sz="34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b="0" i="0" sz="3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876503" y="10552973"/>
            <a:ext cx="81343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Fuente: Encuesta anual de satisfacción Naaloo 2025.</a:t>
            </a:r>
            <a:endParaRPr b="0" i="0" sz="1600" u="none" cap="none" strike="noStrike">
              <a:solidFill>
                <a:srgbClr val="001F4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2875" y="2614124"/>
            <a:ext cx="2581462" cy="3496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4059" y="2596539"/>
            <a:ext cx="2756303" cy="382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5290" y="7045835"/>
            <a:ext cx="7522817" cy="2676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600168" y="6273991"/>
            <a:ext cx="7104002" cy="390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0069" y="2492457"/>
            <a:ext cx="5703007" cy="277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/>
          <p:nvPr/>
        </p:nvSpPr>
        <p:spPr>
          <a:xfrm>
            <a:off x="9158600" y="-112850"/>
            <a:ext cx="10945500" cy="114222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" name="Google Shape;227;p13"/>
          <p:cNvSpPr txBox="1"/>
          <p:nvPr>
            <p:ph type="title"/>
          </p:nvPr>
        </p:nvSpPr>
        <p:spPr>
          <a:xfrm>
            <a:off x="1625775" y="2125300"/>
            <a:ext cx="6102600" cy="141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12700" marR="508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50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Desbloquea</a:t>
            </a:r>
            <a:r>
              <a:rPr lang="es-ES" sz="5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el siguiente nivel</a:t>
            </a:r>
            <a:endParaRPr sz="5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1632900" y="4040925"/>
            <a:ext cx="5821500" cy="28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9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26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Estamos listos para acompañarte en esta transformación. Solo necesitamos tu OK, y nuestro equipo se encargará de que la implementación sea simple y efectiva desde el primer día.</a:t>
            </a:r>
            <a:endParaRPr b="0" i="0" sz="26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1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725" y="7170148"/>
            <a:ext cx="2832500" cy="7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0075" y="-1553674"/>
            <a:ext cx="7820751" cy="144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3725" y="8766572"/>
            <a:ext cx="3543977" cy="61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1515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</cp:coreProperties>
</file>