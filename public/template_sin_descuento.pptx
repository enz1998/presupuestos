
<file path=[Content_Types].xml><?xml version="1.0" encoding="utf-8"?>
<Types xmlns="http://schemas.openxmlformats.org/package/2006/content-types">
  <Default Extension="png" ContentType="image/png"/>
  <Default Extension="emf" ContentType="image/x-emf"/>
  <Default Extension="rels" ContentType="application/vnd.openxmlformats-package.relationships+xml"/>
  <Default Extension="xml" ContentType="application/xml"/>
  <Default Extension="fntdata" ContentType="application/x-fontdata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3" r:id="rId1"/>
  </p:sldMasterIdLst>
  <p:notesMasterIdLst>
    <p:notesMasterId r:id="rId15"/>
  </p:notesMasterIdLst>
  <p:sldIdLst>
    <p:sldId id="269" r:id="rId2"/>
    <p:sldId id="257" r:id="rId3"/>
    <p:sldId id="258" r:id="rId4"/>
    <p:sldId id="259" r:id="rId5"/>
    <p:sldId id="261" r:id="rId6"/>
    <p:sldId id="262" r:id="rId7"/>
    <p:sldId id="264" r:id="rId8"/>
    <p:sldId id="260" r:id="rId9"/>
    <p:sldId id="263" r:id="rId10"/>
    <p:sldId id="265" r:id="rId11"/>
    <p:sldId id="266" r:id="rId12"/>
    <p:sldId id="267" r:id="rId13"/>
    <p:sldId id="268" r:id="rId14"/>
  </p:sldIdLst>
  <p:sldSz cx="20104100" cy="11309350"/>
  <p:notesSz cx="20104100" cy="11309350"/>
  <p:embeddedFontLst>
    <p:embeddedFont>
      <p:font typeface="Figtree SemiBold" pitchFamily="2" charset="0"/>
      <p:regular r:id="rId16"/>
      <p:bold r:id="rId17"/>
      <p:italic r:id="rId18"/>
      <p:boldItalic r:id="rId19"/>
    </p:embeddedFont>
    <p:embeddedFont>
      <p:font typeface="Calibri" panose="020F0502020204030204" pitchFamily="34" charset="0"/>
      <p:regular r:id="rId20"/>
      <p:bold r:id="rId21"/>
      <p:italic r:id="rId22"/>
      <p:boldItalic r:id="rId23"/>
    </p:embeddedFont>
    <p:embeddedFont>
      <p:font typeface="Figtree Medium" pitchFamily="2" charset="0"/>
      <p:regular r:id="rId24"/>
      <p:bold r:id="rId25"/>
      <p:italic r:id="rId26"/>
      <p:boldItalic r:id="rId27"/>
    </p:embeddedFont>
    <p:embeddedFont>
      <p:font typeface="Figtree" pitchFamily="2" charset="0"/>
      <p:regular r:id="rId28"/>
      <p:bold r:id="rId29"/>
      <p:italic r:id="rId30"/>
      <p:boldItalic r:id="rId31"/>
    </p:embeddedFont>
    <p:embeddedFont>
      <p:font typeface="Trebuchet MS" panose="020B0603020202020204" pitchFamily="34" charset="0"/>
      <p:regular r:id="rId32"/>
      <p:bold r:id="rId33"/>
      <p:italic r:id="rId34"/>
      <p:boldItalic r:id="rId35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F4FE"/>
    <a:srgbClr val="F1F7FF"/>
    <a:srgbClr val="E5F5FF"/>
    <a:srgbClr val="001F4E"/>
    <a:srgbClr val="DBEEFD"/>
    <a:srgbClr val="ECF6FE"/>
    <a:srgbClr val="3AA0F8"/>
    <a:srgbClr val="D7ECFD"/>
    <a:srgbClr val="CCE6FC"/>
    <a:srgbClr val="F2FA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94"/>
  </p:normalViewPr>
  <p:slideViewPr>
    <p:cSldViewPr snapToGrid="0">
      <p:cViewPr varScale="1">
        <p:scale>
          <a:sx n="44" d="100"/>
          <a:sy n="44" d="100"/>
        </p:scale>
        <p:origin x="1008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font" Target="fonts/font3.fntdata"/><Relationship Id="rId26" Type="http://schemas.openxmlformats.org/officeDocument/2006/relationships/font" Target="fonts/font11.fntdata"/><Relationship Id="rId39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6.fntdata"/><Relationship Id="rId34" Type="http://schemas.openxmlformats.org/officeDocument/2006/relationships/font" Target="fonts/font19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2.fntdata"/><Relationship Id="rId25" Type="http://schemas.openxmlformats.org/officeDocument/2006/relationships/font" Target="fonts/font10.fntdata"/><Relationship Id="rId33" Type="http://schemas.openxmlformats.org/officeDocument/2006/relationships/font" Target="fonts/font18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font" Target="fonts/font1.fntdata"/><Relationship Id="rId20" Type="http://schemas.openxmlformats.org/officeDocument/2006/relationships/font" Target="fonts/font5.fntdata"/><Relationship Id="rId29" Type="http://schemas.openxmlformats.org/officeDocument/2006/relationships/font" Target="fonts/font14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9.fntdata"/><Relationship Id="rId32" Type="http://schemas.openxmlformats.org/officeDocument/2006/relationships/font" Target="fonts/font17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8.fntdata"/><Relationship Id="rId28" Type="http://schemas.openxmlformats.org/officeDocument/2006/relationships/font" Target="fonts/font13.fntdata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font" Target="fonts/font4.fntdata"/><Relationship Id="rId31" Type="http://schemas.openxmlformats.org/officeDocument/2006/relationships/font" Target="fonts/font16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7.fntdata"/><Relationship Id="rId27" Type="http://schemas.openxmlformats.org/officeDocument/2006/relationships/font" Target="fonts/font12.fntdata"/><Relationship Id="rId30" Type="http://schemas.openxmlformats.org/officeDocument/2006/relationships/font" Target="fonts/font15.fntdata"/><Relationship Id="rId35" Type="http://schemas.openxmlformats.org/officeDocument/2006/relationships/font" Target="fonts/font20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351350" y="848200"/>
            <a:ext cx="13403400" cy="4241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1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1" name="Google Shape;4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3834930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8" name="Google Shape;4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5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6" name="Google Shape;56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g32cd1819c35_0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7" name="Google Shape;77;g32cd1819c3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9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0" name="Google Shape;100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1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119" name="Google Shape;119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2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7" name="Google Shape;167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8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8" name="Google Shape;88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3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5" name="Google Shape;155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299e7f2fdf_1_0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300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6" name="Google Shape;186;g3299e7f2fdf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6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9" name="Google Shape;199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7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7" name="Google Shape;207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14:notes"/>
          <p:cNvSpPr txBox="1">
            <a:spLocks noGrp="1"/>
          </p:cNvSpPr>
          <p:nvPr>
            <p:ph type="body" idx="1"/>
          </p:nvPr>
        </p:nvSpPr>
        <p:spPr>
          <a:xfrm>
            <a:off x="2010400" y="5371925"/>
            <a:ext cx="16083275" cy="5089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283325" y="847725"/>
            <a:ext cx="7539038" cy="42418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obj">
  <p:cSld name="OBJECT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3364584" y="2557291"/>
            <a:ext cx="5529580" cy="63068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 sz="2350" b="1" i="0">
                <a:solidFill>
                  <a:schemeClr val="dk1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body" idx="2"/>
          </p:nvPr>
        </p:nvSpPr>
        <p:spPr>
          <a:xfrm>
            <a:off x="10353611" y="2601150"/>
            <a:ext cx="8745284" cy="746417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marL="914400" lvl="1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marL="1371600" lvl="2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marL="1828800" lvl="3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marL="2286000" lvl="4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marL="2743200" lvl="5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marL="3200400" lvl="6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marL="3657600" lvl="7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marL="4114800" lvl="8" indent="-228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4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>
  <p:cSld name="Title Slide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5"/>
          <p:cNvSpPr txBox="1">
            <a:spLocks noGrp="1"/>
          </p:cNvSpPr>
          <p:nvPr>
            <p:ph type="ctrTitle"/>
          </p:nvPr>
        </p:nvSpPr>
        <p:spPr>
          <a:xfrm>
            <a:off x="1507807" y="3505898"/>
            <a:ext cx="17088486" cy="2374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subTitle" idx="1"/>
          </p:nvPr>
        </p:nvSpPr>
        <p:spPr>
          <a:xfrm>
            <a:off x="3015615" y="6333236"/>
            <a:ext cx="14072870" cy="28273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5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6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1645268" y="1285346"/>
            <a:ext cx="4368165" cy="1225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41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10306286" y="2044347"/>
            <a:ext cx="8131175" cy="27324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3050" b="1" i="0" u="none" strike="noStrike" cap="none">
                <a:solidFill>
                  <a:srgbClr val="151515"/>
                </a:solidFill>
                <a:latin typeface="Trebuchet MS"/>
                <a:ea typeface="Trebuchet MS"/>
                <a:cs typeface="Trebuchet MS"/>
                <a:sym typeface="Trebuchet MS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ftr" idx="11"/>
          </p:nvPr>
        </p:nvSpPr>
        <p:spPr>
          <a:xfrm>
            <a:off x="6835394" y="10517696"/>
            <a:ext cx="6433312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dt" idx="10"/>
          </p:nvPr>
        </p:nvSpPr>
        <p:spPr>
          <a:xfrm>
            <a:off x="1005205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14474953" y="10517696"/>
            <a:ext cx="4623943" cy="56546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lvl="0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lvl="1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lvl="2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lvl="3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lvl="4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lvl="5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lvl="6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lvl="7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lvl="8" indent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s-ES"/>
              <a:t>‹Nº›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emf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emf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2.png"/><Relationship Id="rId3" Type="http://schemas.openxmlformats.org/officeDocument/2006/relationships/image" Target="../media/image18.png"/><Relationship Id="rId7" Type="http://schemas.openxmlformats.org/officeDocument/2006/relationships/image" Target="../media/image2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2.png"/><Relationship Id="rId9" Type="http://schemas.openxmlformats.org/officeDocument/2006/relationships/image" Target="../media/image2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60;p9">
            <a:extLst>
              <a:ext uri="{FF2B5EF4-FFF2-40B4-BE49-F238E27FC236}">
                <a16:creationId xmlns:a16="http://schemas.microsoft.com/office/drawing/2014/main" id="{0752F877-6160-34FD-0395-227B1E066399}"/>
              </a:ext>
            </a:extLst>
          </p:cNvPr>
          <p:cNvSpPr txBox="1"/>
          <p:nvPr/>
        </p:nvSpPr>
        <p:spPr>
          <a:xfrm>
            <a:off x="5389550" y="7529356"/>
            <a:ext cx="9403410" cy="6232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500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Propuesta Comercial para </a:t>
            </a:r>
            <a:r>
              <a:rPr lang="es-ES" sz="3500" b="1" dirty="0">
                <a:solidFill>
                  <a:schemeClr val="bg1"/>
                </a:solidFill>
                <a:latin typeface="Figtree"/>
                <a:ea typeface="Figtree"/>
                <a:cs typeface="Figtree"/>
                <a:sym typeface="Figtree"/>
              </a:rPr>
              <a:t>[empresa]</a:t>
            </a:r>
            <a:endParaRPr sz="3500" b="1" dirty="0">
              <a:solidFill>
                <a:schemeClr val="bg1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  <p:extLst>
      <p:ext uri="{BB962C8B-B14F-4D97-AF65-F5344CB8AC3E}">
        <p14:creationId xmlns:p14="http://schemas.microsoft.com/office/powerpoint/2010/main" val="12700795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50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-36113"/>
            <a:ext cx="817850" cy="11381576"/>
          </a:xfrm>
          <a:prstGeom prst="rect">
            <a:avLst/>
          </a:prstGeom>
          <a:noFill/>
          <a:ln>
            <a:noFill/>
          </a:ln>
        </p:spPr>
      </p:pic>
      <p:sp>
        <p:nvSpPr>
          <p:cNvPr id="51" name="Google Shape;51;p8"/>
          <p:cNvSpPr txBox="1"/>
          <p:nvPr/>
        </p:nvSpPr>
        <p:spPr>
          <a:xfrm>
            <a:off x="-3005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02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52" name="Google Shape;52;p8"/>
          <p:cNvSpPr txBox="1"/>
          <p:nvPr/>
        </p:nvSpPr>
        <p:spPr>
          <a:xfrm rot="-5400000">
            <a:off x="-755900" y="824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Sobre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2" name="Imagen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88905" y="1622328"/>
            <a:ext cx="16666286" cy="8064693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/>
          <p:nvPr/>
        </p:nvSpPr>
        <p:spPr>
          <a:xfrm>
            <a:off x="8236350" y="0"/>
            <a:ext cx="11867700" cy="113094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59" name="Google Shape;59;p9"/>
          <p:cNvSpPr txBox="1">
            <a:spLocks noGrp="1"/>
          </p:cNvSpPr>
          <p:nvPr>
            <p:ph type="title"/>
          </p:nvPr>
        </p:nvSpPr>
        <p:spPr>
          <a:xfrm>
            <a:off x="1833903" y="1188967"/>
            <a:ext cx="4995521" cy="12740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>
              <a:lnSpc>
                <a:spcPts val="4800"/>
              </a:lnSpc>
            </a:pP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Qué </a:t>
            </a:r>
            <a:r>
              <a:rPr lang="es-MX" sz="45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beneficios </a:t>
            </a:r>
            <a:r>
              <a:rPr lang="es-MX" sz="45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vamos a </a:t>
            </a:r>
            <a:r>
              <a:rPr lang="es-MX" sz="45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ofrecer</a:t>
            </a:r>
            <a:endParaRPr sz="45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0" name="Google Shape;60;p9"/>
          <p:cNvSpPr txBox="1"/>
          <p:nvPr/>
        </p:nvSpPr>
        <p:spPr>
          <a:xfrm>
            <a:off x="1833904" y="2875443"/>
            <a:ext cx="5548800" cy="13195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800" rIns="0" bIns="0" anchor="t" anchorCtr="0">
            <a:spAutoFit/>
          </a:bodyPr>
          <a:lstStyle/>
          <a:p>
            <a:pPr marL="12700" marR="508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 a simplificar tu gestión con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menos carga laboral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</a:t>
            </a:r>
            <a:r>
              <a:rPr lang="es-ES" sz="2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mejores resultados.</a:t>
            </a:r>
            <a:endParaRPr sz="28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1" name="Google Shape;61;p9"/>
          <p:cNvSpPr txBox="1"/>
          <p:nvPr/>
        </p:nvSpPr>
        <p:spPr>
          <a:xfrm>
            <a:off x="9290900" y="1180549"/>
            <a:ext cx="2630100" cy="22563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4622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Ahorro de hasta 60% de tiempo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125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Reducción de horas y costos administrativos, automatizando tareas repetitivas.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2" name="Google Shape;62;p9"/>
          <p:cNvSpPr txBox="1"/>
          <p:nvPr/>
        </p:nvSpPr>
        <p:spPr>
          <a:xfrm>
            <a:off x="9290900" y="3947750"/>
            <a:ext cx="2640900" cy="213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Mobile &amp; 24/7</a:t>
            </a:r>
            <a:endParaRPr sz="24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Gestionable desde cualquier computadora o celular con Internet, las 24 </a:t>
            </a:r>
            <a:r>
              <a:rPr lang="es-ES" sz="1950" dirty="0" err="1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hs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3" name="Google Shape;63;p9"/>
          <p:cNvSpPr txBox="1"/>
          <p:nvPr/>
        </p:nvSpPr>
        <p:spPr>
          <a:xfrm>
            <a:off x="12687450" y="1189275"/>
            <a:ext cx="2851800" cy="226919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11239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Comunicaciones simples y unificadas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21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Contacta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 todos los colaboradores en tiempo real, con datos de lectura y entendimiento.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4" name="Google Shape;64;p9"/>
          <p:cNvSpPr txBox="1"/>
          <p:nvPr/>
        </p:nvSpPr>
        <p:spPr>
          <a:xfrm>
            <a:off x="16303650" y="1189275"/>
            <a:ext cx="2235900" cy="2282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6451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Gestión centralizada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33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Toda la información e interacciones con tus equipos, en un solo lugar.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5" name="Google Shape;65;p9"/>
          <p:cNvSpPr txBox="1"/>
          <p:nvPr/>
        </p:nvSpPr>
        <p:spPr>
          <a:xfrm>
            <a:off x="12687450" y="3999150"/>
            <a:ext cx="2865900" cy="25513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Menos tareas, menos papel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17780" lvl="0" indent="0" algn="l" rtl="0">
              <a:lnSpc>
                <a:spcPts val="2600"/>
              </a:lnSpc>
              <a:spcBef>
                <a:spcPts val="74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Automatización y digitalización de firma de recibos (y de cualquier documento) con validez legal.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6" name="Google Shape;66;p9"/>
          <p:cNvSpPr txBox="1"/>
          <p:nvPr/>
        </p:nvSpPr>
        <p:spPr>
          <a:xfrm>
            <a:off x="16303650" y="3796698"/>
            <a:ext cx="2550000" cy="24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1590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Home Office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500"/>
              </a:spcBef>
              <a:spcAft>
                <a:spcPts val="0"/>
              </a:spcAft>
              <a:buNone/>
            </a:pP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Gestiona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trabajo remoto en el acto con fichaje, gestión de entregas y todo lo que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necesitas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7" name="Google Shape;67;p9"/>
          <p:cNvSpPr txBox="1"/>
          <p:nvPr/>
        </p:nvSpPr>
        <p:spPr>
          <a:xfrm>
            <a:off x="9295950" y="7182525"/>
            <a:ext cx="2905200" cy="28719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883285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 err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Workflows</a:t>
            </a: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 automatizados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411480" lvl="0" indent="0" algn="l" rtl="0">
              <a:lnSpc>
                <a:spcPts val="2600"/>
              </a:lnSpc>
              <a:spcBef>
                <a:spcPts val="11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Optimiza y agiliza la solicitud y aprobación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 ausencias, vacaciones,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248920" lvl="0" indent="0" algn="just" rtl="0">
              <a:lnSpc>
                <a:spcPts val="2600"/>
              </a:lnSpc>
              <a:spcBef>
                <a:spcPts val="9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entregas de equipos de </a:t>
            </a:r>
            <a:r>
              <a:rPr lang="es-ES" sz="195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trabajo, capacitaciones </a:t>
            </a: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y más.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8" name="Google Shape;68;p9"/>
          <p:cNvSpPr txBox="1"/>
          <p:nvPr/>
        </p:nvSpPr>
        <p:spPr>
          <a:xfrm>
            <a:off x="16303650" y="7198201"/>
            <a:ext cx="2759100" cy="2314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Siempre actualizada</a:t>
            </a:r>
            <a:endParaRPr sz="2300" dirty="0">
              <a:latin typeface="Figtree"/>
              <a:ea typeface="Figtree"/>
              <a:cs typeface="Figtree"/>
              <a:sym typeface="Figtree"/>
            </a:endParaRPr>
          </a:p>
          <a:p>
            <a:pPr marL="12700" marR="34925" lvl="0" indent="0" algn="l" rtl="0">
              <a:lnSpc>
                <a:spcPts val="2600"/>
              </a:lnSpc>
              <a:spcBef>
                <a:spcPts val="1750"/>
              </a:spcBef>
              <a:spcAft>
                <a:spcPts val="0"/>
              </a:spcAft>
              <a:buNone/>
            </a:pPr>
            <a:r>
              <a:rPr lang="es-ES" sz="195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Mejora continua de herramientas y funcionalidades en base a la experiencia de los usuarios, sin costo.</a:t>
            </a:r>
            <a:endParaRPr sz="195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9" name="Google Shape;69;p9"/>
          <p:cNvSpPr txBox="1"/>
          <p:nvPr/>
        </p:nvSpPr>
        <p:spPr>
          <a:xfrm>
            <a:off x="12655991" y="7074224"/>
            <a:ext cx="2717100" cy="1419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9550" rIns="0" bIns="0" anchor="t" anchorCtr="0">
            <a:spAutoFit/>
          </a:bodyPr>
          <a:lstStyle/>
          <a:p>
            <a:pPr marL="12700" lvl="0" indent="0" algn="l" rtl="0">
              <a:lnSpc>
                <a:spcPts val="26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b="1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Simple y rápida</a:t>
            </a:r>
            <a:endParaRPr sz="2400"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2600"/>
              </a:lnSpc>
              <a:spcBef>
                <a:spcPts val="1420"/>
              </a:spcBef>
              <a:spcAft>
                <a:spcPts val="0"/>
              </a:spcAft>
              <a:buNone/>
            </a:pPr>
            <a:r>
              <a:rPr lang="es-ES" sz="19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Implementación veloz y aprendizaje intuitivo.</a:t>
            </a:r>
            <a:endParaRPr sz="195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71" name="Google Shape;71;p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9"/>
          <p:cNvSpPr txBox="1"/>
          <p:nvPr/>
        </p:nvSpPr>
        <p:spPr>
          <a:xfrm>
            <a:off x="-271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03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73" name="Google Shape;73;p9"/>
          <p:cNvSpPr txBox="1"/>
          <p:nvPr/>
        </p:nvSpPr>
        <p:spPr>
          <a:xfrm rot="-5400000">
            <a:off x="-755900" y="443375"/>
            <a:ext cx="2345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13341" y="5105994"/>
            <a:ext cx="6721909" cy="5082886"/>
          </a:xfrm>
          <a:prstGeom prst="rect">
            <a:avLst/>
          </a:prstGeom>
        </p:spPr>
      </p:pic>
      <p:pic>
        <p:nvPicPr>
          <p:cNvPr id="6" name="Imagen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50535" y="6562126"/>
            <a:ext cx="3157778" cy="590114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9" name="Google Shape;79;p10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36353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10"/>
          <p:cNvSpPr txBox="1">
            <a:spLocks noGrp="1"/>
          </p:cNvSpPr>
          <p:nvPr>
            <p:ph type="title"/>
          </p:nvPr>
        </p:nvSpPr>
        <p:spPr>
          <a:xfrm>
            <a:off x="1846600" y="773350"/>
            <a:ext cx="6533700" cy="1345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¡</a:t>
            </a:r>
            <a:r>
              <a:rPr lang="es-ES" sz="4100" dirty="0" smtClean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en </a:t>
            </a:r>
            <a:r>
              <a:rPr lang="es-ES" sz="41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números!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Beneficios medibles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81" name="Google Shape;81;p10"/>
          <p:cNvSpPr txBox="1"/>
          <p:nvPr/>
        </p:nvSpPr>
        <p:spPr>
          <a:xfrm>
            <a:off x="10707100" y="936410"/>
            <a:ext cx="7697400" cy="83290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31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Recupera tu inversión en tiempo récord y acelera </a:t>
            </a:r>
            <a:b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</a:b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tu crecimiento desde el día uno.</a:t>
            </a:r>
          </a:p>
        </p:txBody>
      </p:sp>
      <p:pic>
        <p:nvPicPr>
          <p:cNvPr id="83" name="Google Shape;83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84" name="Google Shape;84;p10"/>
          <p:cNvSpPr txBox="1"/>
          <p:nvPr/>
        </p:nvSpPr>
        <p:spPr>
          <a:xfrm>
            <a:off x="-17560" y="1020100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04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85" name="Google Shape;85;p10"/>
          <p:cNvSpPr txBox="1"/>
          <p:nvPr/>
        </p:nvSpPr>
        <p:spPr>
          <a:xfrm rot="-5400000">
            <a:off x="-700325" y="503925"/>
            <a:ext cx="22185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Beneficios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1A9ABD6-7CEF-E61B-1213-55C36655B0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200" y="2959826"/>
            <a:ext cx="17581824" cy="6751243"/>
          </a:xfrm>
          <a:prstGeom prst="rect">
            <a:avLst/>
          </a:prstGeom>
        </p:spPr>
      </p:pic>
      <p:sp>
        <p:nvSpPr>
          <p:cNvPr id="9" name="Google Shape;81;p10"/>
          <p:cNvSpPr txBox="1"/>
          <p:nvPr/>
        </p:nvSpPr>
        <p:spPr>
          <a:xfrm>
            <a:off x="1694200" y="10417214"/>
            <a:ext cx="7697400" cy="4353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>
              <a:lnSpc>
                <a:spcPts val="3100"/>
              </a:lnSpc>
            </a:pPr>
            <a:r>
              <a:rPr lang="es-MX" sz="2000" b="1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Fuente: 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Resultados de usuarios de </a:t>
            </a:r>
            <a:r>
              <a:rPr lang="es-MX" sz="2000" dirty="0" err="1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Naaloo</a:t>
            </a:r>
            <a:r>
              <a:rPr lang="es-MX" sz="20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 </a:t>
            </a:r>
            <a:r>
              <a:rPr lang="es-MX" sz="2000" dirty="0" smtClean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2025.</a:t>
            </a:r>
            <a:endParaRPr lang="es-ES" sz="20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Google Shape;102;p12"/>
          <p:cNvPicPr preferRelativeResize="0"/>
          <p:nvPr/>
        </p:nvPicPr>
        <p:blipFill>
          <a:blip r:embed="rId3">
            <a:alphaModFix amt="74000"/>
          </a:blip>
          <a:stretch>
            <a:fillRect/>
          </a:stretch>
        </p:blipFill>
        <p:spPr>
          <a:xfrm>
            <a:off x="0" y="0"/>
            <a:ext cx="20104100" cy="4255699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2"/>
          <p:cNvSpPr txBox="1">
            <a:spLocks noGrp="1"/>
          </p:cNvSpPr>
          <p:nvPr>
            <p:ph type="title"/>
          </p:nvPr>
        </p:nvSpPr>
        <p:spPr>
          <a:xfrm>
            <a:off x="1846598" y="773357"/>
            <a:ext cx="8175000" cy="74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ct val="10391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Funcionalidades</a:t>
            </a:r>
            <a:r>
              <a:rPr lang="es-ES" sz="4100" dirty="0"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incluidas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04" name="Google Shape;104;p12"/>
          <p:cNvSpPr txBox="1"/>
          <p:nvPr/>
        </p:nvSpPr>
        <p:spPr>
          <a:xfrm>
            <a:off x="10915524" y="835305"/>
            <a:ext cx="6729600" cy="7816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00" dirty="0">
                <a:solidFill>
                  <a:srgbClr val="152F72"/>
                </a:solidFill>
                <a:latin typeface="Figtree" pitchFamily="2" charset="0"/>
                <a:ea typeface="Figtree Medium"/>
                <a:cs typeface="Figtree Medium"/>
                <a:sym typeface="Figtree Medium"/>
              </a:rPr>
              <a:t>Herramientas simples y potentes diseñadas para llevar tu gestión al siguiente nivel.</a:t>
            </a:r>
            <a:endParaRPr sz="2400" dirty="0">
              <a:solidFill>
                <a:srgbClr val="152F72"/>
              </a:solidFill>
              <a:latin typeface="Figtree" pitchFamily="2" charset="0"/>
              <a:ea typeface="Figtree Medium"/>
              <a:cs typeface="Figtree Medium"/>
              <a:sym typeface="Figtree Medium"/>
            </a:endParaRPr>
          </a:p>
        </p:txBody>
      </p:sp>
      <p:sp>
        <p:nvSpPr>
          <p:cNvPr id="105" name="Google Shape;105;p12"/>
          <p:cNvSpPr txBox="1"/>
          <p:nvPr/>
        </p:nvSpPr>
        <p:spPr>
          <a:xfrm>
            <a:off x="1771481" y="2713860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Gestión Centralizada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6" name="Google Shape;106;p12"/>
          <p:cNvSpPr/>
          <p:nvPr/>
        </p:nvSpPr>
        <p:spPr>
          <a:xfrm>
            <a:off x="1839886" y="3212852"/>
            <a:ext cx="3052154" cy="45719"/>
          </a:xfrm>
          <a:prstGeom prst="rect">
            <a:avLst/>
          </a:prstGeom>
          <a:solidFill>
            <a:srgbClr val="9D7E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7" name="Google Shape;107;p12"/>
          <p:cNvSpPr txBox="1"/>
          <p:nvPr/>
        </p:nvSpPr>
        <p:spPr>
          <a:xfrm>
            <a:off x="6270838" y="269405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Procesos automatizados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08" name="Google Shape;108;p12"/>
          <p:cNvSpPr/>
          <p:nvPr/>
        </p:nvSpPr>
        <p:spPr>
          <a:xfrm>
            <a:off x="6369723" y="3193048"/>
            <a:ext cx="3464700" cy="47926"/>
          </a:xfrm>
          <a:prstGeom prst="rect">
            <a:avLst/>
          </a:prstGeom>
          <a:solidFill>
            <a:srgbClr val="00D08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09" name="Google Shape;109;p12"/>
          <p:cNvSpPr txBox="1"/>
          <p:nvPr/>
        </p:nvSpPr>
        <p:spPr>
          <a:xfrm>
            <a:off x="10756873" y="2696275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Comunicación y Equipo</a:t>
            </a:r>
            <a:endParaRPr sz="245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0" name="Google Shape;110;p12"/>
          <p:cNvSpPr/>
          <p:nvPr/>
        </p:nvSpPr>
        <p:spPr>
          <a:xfrm>
            <a:off x="10825278" y="3195267"/>
            <a:ext cx="3464700" cy="45719"/>
          </a:xfrm>
          <a:prstGeom prst="rect">
            <a:avLst/>
          </a:prstGeom>
          <a:solidFill>
            <a:srgbClr val="379FF8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11" name="Google Shape;111;p12"/>
          <p:cNvSpPr txBox="1"/>
          <p:nvPr/>
        </p:nvSpPr>
        <p:spPr>
          <a:xfrm>
            <a:off x="15144825" y="2713848"/>
            <a:ext cx="3989400" cy="47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450" dirty="0">
                <a:solidFill>
                  <a:srgbClr val="152F72"/>
                </a:solidFill>
                <a:latin typeface="Figtree SemiBold" pitchFamily="2" charset="0"/>
                <a:ea typeface="Figtree"/>
                <a:cs typeface="Figtree"/>
                <a:sym typeface="Figtree"/>
              </a:rPr>
              <a:t>Desarrollo y Performance</a:t>
            </a:r>
            <a:endParaRPr sz="2450" dirty="0">
              <a:solidFill>
                <a:srgbClr val="152F72"/>
              </a:solidFill>
              <a:latin typeface="Figtree SemiBold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12" name="Google Shape;112;p12"/>
          <p:cNvSpPr/>
          <p:nvPr/>
        </p:nvSpPr>
        <p:spPr>
          <a:xfrm>
            <a:off x="15244298" y="3195255"/>
            <a:ext cx="3614032" cy="45719"/>
          </a:xfrm>
          <a:prstGeom prst="rect">
            <a:avLst/>
          </a:prstGeom>
          <a:solidFill>
            <a:srgbClr val="FFCD26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pic>
        <p:nvPicPr>
          <p:cNvPr id="114" name="Google Shape;114;p1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404"/>
            <a:ext cx="817851" cy="11309351"/>
          </a:xfrm>
          <a:prstGeom prst="rect">
            <a:avLst/>
          </a:prstGeom>
          <a:noFill/>
          <a:ln>
            <a:noFill/>
          </a:ln>
        </p:spPr>
      </p:pic>
      <p:sp>
        <p:nvSpPr>
          <p:cNvPr id="115" name="Google Shape;115;p12"/>
          <p:cNvSpPr txBox="1"/>
          <p:nvPr/>
        </p:nvSpPr>
        <p:spPr>
          <a:xfrm>
            <a:off x="-27120" y="1019572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05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16" name="Google Shape;116;p12"/>
          <p:cNvSpPr txBox="1"/>
          <p:nvPr/>
        </p:nvSpPr>
        <p:spPr>
          <a:xfrm rot="-5400000">
            <a:off x="-1058900" y="87775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Funcionalidades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96272" y="3696367"/>
            <a:ext cx="16276302" cy="6034914"/>
          </a:xfrm>
          <a:prstGeom prst="rect">
            <a:avLst/>
          </a:prstGeom>
        </p:spPr>
      </p:pic>
      <p:sp>
        <p:nvSpPr>
          <p:cNvPr id="21" name="Google Shape;104;p12"/>
          <p:cNvSpPr txBox="1"/>
          <p:nvPr/>
        </p:nvSpPr>
        <p:spPr>
          <a:xfrm>
            <a:off x="2330539" y="10442194"/>
            <a:ext cx="6729600" cy="4097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ts val="29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 smtClean="0">
                <a:solidFill>
                  <a:srgbClr val="152F72"/>
                </a:solidFill>
                <a:latin typeface="Figtree Medium" pitchFamily="2" charset="0"/>
                <a:ea typeface="Figtree Medium"/>
                <a:cs typeface="Figtree Medium"/>
                <a:sym typeface="Figtree Medium"/>
              </a:rPr>
              <a:t>Funcionalidad bonificada</a:t>
            </a:r>
            <a:endParaRPr sz="2200" dirty="0">
              <a:solidFill>
                <a:srgbClr val="152F72"/>
              </a:solidFill>
              <a:latin typeface="Figtree Medium" pitchFamily="2" charset="0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081854" y="4899308"/>
            <a:ext cx="346560" cy="352337"/>
          </a:xfrm>
          <a:prstGeom prst="rect">
            <a:avLst/>
          </a:prstGeom>
        </p:spPr>
      </p:pic>
      <p:pic>
        <p:nvPicPr>
          <p:cNvPr id="23" name="Imagen 22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43718" y="3862657"/>
            <a:ext cx="346560" cy="352337"/>
          </a:xfrm>
          <a:prstGeom prst="rect">
            <a:avLst/>
          </a:prstGeom>
        </p:spPr>
      </p:pic>
      <p:pic>
        <p:nvPicPr>
          <p:cNvPr id="24" name="Imagen 23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39886" y="10470881"/>
            <a:ext cx="346560" cy="35233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3"/>
          <p:cNvSpPr/>
          <p:nvPr/>
        </p:nvSpPr>
        <p:spPr>
          <a:xfrm>
            <a:off x="10772550" y="2072640"/>
            <a:ext cx="7854600" cy="8696860"/>
          </a:xfrm>
          <a:prstGeom prst="roundRect">
            <a:avLst>
              <a:gd name="adj" fmla="val 4639"/>
            </a:avLst>
          </a:prstGeom>
          <a:solidFill>
            <a:srgbClr val="F2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2" name="Google Shape;122;p13"/>
          <p:cNvSpPr/>
          <p:nvPr/>
        </p:nvSpPr>
        <p:spPr>
          <a:xfrm>
            <a:off x="10935300" y="8854440"/>
            <a:ext cx="7529100" cy="1767839"/>
          </a:xfrm>
          <a:prstGeom prst="roundRect">
            <a:avLst>
              <a:gd name="adj" fmla="val 10244"/>
            </a:avLst>
          </a:prstGeom>
          <a:solidFill>
            <a:srgbClr val="C5E5FC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3" name="Google Shape;123;p13"/>
          <p:cNvSpPr/>
          <p:nvPr/>
        </p:nvSpPr>
        <p:spPr>
          <a:xfrm>
            <a:off x="2109475" y="2072640"/>
            <a:ext cx="7854600" cy="8696860"/>
          </a:xfrm>
          <a:prstGeom prst="roundRect">
            <a:avLst>
              <a:gd name="adj" fmla="val 4639"/>
            </a:avLst>
          </a:prstGeom>
          <a:solidFill>
            <a:srgbClr val="F2FAF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4" name="Google Shape;124;p13"/>
          <p:cNvSpPr/>
          <p:nvPr/>
        </p:nvSpPr>
        <p:spPr>
          <a:xfrm>
            <a:off x="2222996" y="8854440"/>
            <a:ext cx="7606804" cy="1767839"/>
          </a:xfrm>
          <a:prstGeom prst="roundRect">
            <a:avLst>
              <a:gd name="adj" fmla="val 10244"/>
            </a:avLst>
          </a:prstGeom>
          <a:solidFill>
            <a:srgbClr val="C5E5FC"/>
          </a:solidFill>
          <a:ln w="9525" cap="flat" cmpd="sng">
            <a:solidFill>
              <a:srgbClr val="E6F3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25" name="Google Shape;125;p13"/>
          <p:cNvSpPr txBox="1">
            <a:spLocks noGrp="1"/>
          </p:cNvSpPr>
          <p:nvPr>
            <p:ph type="title"/>
          </p:nvPr>
        </p:nvSpPr>
        <p:spPr>
          <a:xfrm>
            <a:off x="2177275" y="744124"/>
            <a:ext cx="6425700" cy="60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5225" rIns="0" bIns="0" anchor="t" anchorCtr="0">
            <a:spAutoFit/>
          </a:bodyPr>
          <a:lstStyle/>
          <a:p>
            <a:pPr marL="508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8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Propuesta </a:t>
            </a:r>
            <a:r>
              <a:rPr lang="es-ES" sz="38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9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6" name="Google Shape;126;p13"/>
          <p:cNvSpPr txBox="1"/>
          <p:nvPr/>
        </p:nvSpPr>
        <p:spPr>
          <a:xfrm>
            <a:off x="13392150" y="814364"/>
            <a:ext cx="5235000" cy="44817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2800" b="1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Fecha: </a:t>
            </a:r>
            <a:r>
              <a:rPr lang="es-ES" sz="2800" dirty="0" smtClean="0">
                <a:solidFill>
                  <a:schemeClr val="dk2"/>
                </a:solidFill>
                <a:latin typeface="Figtree"/>
                <a:ea typeface="Figtree"/>
                <a:cs typeface="Figtree"/>
                <a:sym typeface="Figtree"/>
              </a:rPr>
              <a:t>15/10/25</a:t>
            </a:r>
            <a:endParaRPr sz="2800" dirty="0">
              <a:solidFill>
                <a:schemeClr val="dk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7" name="Google Shape;127;p13"/>
          <p:cNvSpPr txBox="1">
            <a:spLocks noGrp="1"/>
          </p:cNvSpPr>
          <p:nvPr>
            <p:ph type="body" idx="1"/>
          </p:nvPr>
        </p:nvSpPr>
        <p:spPr>
          <a:xfrm>
            <a:off x="3175140" y="4315422"/>
            <a:ext cx="6070800" cy="5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Cantidad de usuarios: 350  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8" name="Google Shape;128;p13"/>
          <p:cNvSpPr txBox="1">
            <a:spLocks noGrp="1"/>
          </p:cNvSpPr>
          <p:nvPr>
            <p:ph type="body" idx="1"/>
          </p:nvPr>
        </p:nvSpPr>
        <p:spPr>
          <a:xfrm>
            <a:off x="3175111" y="5053999"/>
            <a:ext cx="6070800" cy="52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Almacenamiento disponible: 20 GB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29" name="Google Shape;129;p13"/>
          <p:cNvSpPr txBox="1">
            <a:spLocks noGrp="1"/>
          </p:cNvSpPr>
          <p:nvPr>
            <p:ph type="title"/>
          </p:nvPr>
        </p:nvSpPr>
        <p:spPr>
          <a:xfrm>
            <a:off x="2717292" y="2496232"/>
            <a:ext cx="41475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Licencia Software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30" name="Google Shape;130;p13"/>
          <p:cNvSpPr txBox="1"/>
          <p:nvPr/>
        </p:nvSpPr>
        <p:spPr>
          <a:xfrm>
            <a:off x="2727150" y="9019580"/>
            <a:ext cx="6038512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Licencia: </a:t>
            </a:r>
            <a:r>
              <a:rPr lang="es-ES" sz="22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$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154.000 + IVA 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31" name="Google Shape;131;p13"/>
          <p:cNvSpPr txBox="1">
            <a:spLocks noGrp="1"/>
          </p:cNvSpPr>
          <p:nvPr>
            <p:ph type="body" idx="1"/>
          </p:nvPr>
        </p:nvSpPr>
        <p:spPr>
          <a:xfrm>
            <a:off x="3175151" y="3239580"/>
            <a:ext cx="68259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Sistema de gestión de RRHH con los módulos especificados.    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32" name="Google Shape;13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3523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460990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4" name="Google Shape;13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5266304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35" name="Google Shape;135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-28750"/>
            <a:ext cx="817850" cy="11366849"/>
          </a:xfrm>
          <a:prstGeom prst="rect">
            <a:avLst/>
          </a:prstGeom>
          <a:noFill/>
          <a:ln>
            <a:noFill/>
          </a:ln>
        </p:spPr>
      </p:pic>
      <p:sp>
        <p:nvSpPr>
          <p:cNvPr id="136" name="Google Shape;136;p13"/>
          <p:cNvSpPr txBox="1"/>
          <p:nvPr/>
        </p:nvSpPr>
        <p:spPr>
          <a:xfrm>
            <a:off x="-2489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06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7" name="Google Shape;137;p13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9" name="Google Shape;139;p13"/>
          <p:cNvSpPr txBox="1">
            <a:spLocks noGrp="1"/>
          </p:cNvSpPr>
          <p:nvPr>
            <p:ph type="body" idx="1"/>
          </p:nvPr>
        </p:nvSpPr>
        <p:spPr>
          <a:xfrm>
            <a:off x="11858778" y="4223990"/>
            <a:ext cx="6407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Creación de base de datos y parametrización de la plataforma.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0" name="Google Shape;140;p13"/>
          <p:cNvSpPr txBox="1">
            <a:spLocks noGrp="1"/>
          </p:cNvSpPr>
          <p:nvPr>
            <p:ph type="body" idx="1"/>
          </p:nvPr>
        </p:nvSpPr>
        <p:spPr>
          <a:xfrm>
            <a:off x="11858775" y="5372240"/>
            <a:ext cx="6407700" cy="76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Alta y notificación del personal con usuarios y claves.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41" name="Google Shape;141;p13"/>
          <p:cNvSpPr txBox="1">
            <a:spLocks noGrp="1"/>
          </p:cNvSpPr>
          <p:nvPr>
            <p:ph type="title"/>
          </p:nvPr>
        </p:nvSpPr>
        <p:spPr>
          <a:xfrm>
            <a:off x="11413654" y="2458130"/>
            <a:ext cx="6401906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09775" rIns="0" bIns="0" anchor="b" anchorCtr="0">
            <a:noAutofit/>
          </a:bodyPr>
          <a:lstStyle/>
          <a:p>
            <a:pPr marL="41910" lvl="0"/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Onboarding </a:t>
            </a:r>
            <a:r>
              <a:rPr lang="en-US" sz="2700" dirty="0" err="1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inmediato</a:t>
            </a:r>
            <a:r>
              <a:rPr lang="en-US" sz="2700" dirty="0" smtClean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 </a:t>
            </a:r>
            <a:r>
              <a:rPr lang="en-US" sz="2700" dirty="0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y </a:t>
            </a:r>
            <a:r>
              <a:rPr lang="en-US" sz="2700" dirty="0" err="1">
                <a:solidFill>
                  <a:srgbClr val="152F72"/>
                </a:solidFill>
                <a:latin typeface="Figtree" pitchFamily="2" charset="0"/>
                <a:ea typeface="Figtree"/>
                <a:cs typeface="Figtree"/>
                <a:sym typeface="Figtree"/>
              </a:rPr>
              <a:t>Capacitación</a:t>
            </a:r>
            <a:endParaRPr sz="2700" dirty="0">
              <a:solidFill>
                <a:srgbClr val="152F72"/>
              </a:solidFill>
              <a:latin typeface="Figtree" pitchFamily="2" charset="0"/>
              <a:ea typeface="Figtree"/>
              <a:cs typeface="Figtree"/>
              <a:sym typeface="Figtree"/>
            </a:endParaRPr>
          </a:p>
        </p:txBody>
      </p:sp>
      <p:sp>
        <p:nvSpPr>
          <p:cNvPr id="143" name="Google Shape;143;p13"/>
          <p:cNvSpPr txBox="1">
            <a:spLocks noGrp="1"/>
          </p:cNvSpPr>
          <p:nvPr>
            <p:ph type="body" idx="1"/>
          </p:nvPr>
        </p:nvSpPr>
        <p:spPr>
          <a:xfrm>
            <a:off x="11858800" y="3239580"/>
            <a:ext cx="6425700" cy="8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t" anchorCtr="0">
            <a:spAutoFit/>
          </a:bodyPr>
          <a:lstStyle/>
          <a:p>
            <a:pPr marL="0" marR="425450" lvl="0" indent="0" algn="l" rtl="0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Personalización del diseño en base a la identidad de la compañía.</a:t>
            </a:r>
            <a:endParaRPr sz="2300" b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4" name="Google Shape;144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3535876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4518462"/>
            <a:ext cx="233794" cy="24143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6" name="Google Shape;14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554676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858750" y="6398365"/>
            <a:ext cx="6947410" cy="11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 (dos) sesiones de capacitación en todas las funcionalidades de Naaloo para administradores.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48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655410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13"/>
          <p:cNvSpPr txBox="1">
            <a:spLocks noGrp="1"/>
          </p:cNvSpPr>
          <p:nvPr>
            <p:ph type="body" idx="1"/>
          </p:nvPr>
        </p:nvSpPr>
        <p:spPr>
          <a:xfrm>
            <a:off x="3175100" y="5663355"/>
            <a:ext cx="6825900" cy="90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Gestión de Desempeño: </a:t>
            </a:r>
            <a:r>
              <a:rPr lang="es-ES" sz="23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0" name="Google Shape;150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6059554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13"/>
          <p:cNvSpPr txBox="1">
            <a:spLocks noGrp="1"/>
          </p:cNvSpPr>
          <p:nvPr>
            <p:ph type="body" idx="1"/>
          </p:nvPr>
        </p:nvSpPr>
        <p:spPr>
          <a:xfrm>
            <a:off x="3175151" y="6623630"/>
            <a:ext cx="6070800" cy="6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Módulo de Reclutamiento: </a:t>
            </a:r>
            <a:r>
              <a:rPr lang="es-ES" sz="23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Bonificado.</a:t>
            </a:r>
            <a:endParaRPr sz="23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2" name="Google Shape;152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727150" y="6868879"/>
            <a:ext cx="233794" cy="241439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Google Shape;130;p13">
            <a:extLst>
              <a:ext uri="{FF2B5EF4-FFF2-40B4-BE49-F238E27FC236}">
                <a16:creationId xmlns:a16="http://schemas.microsoft.com/office/drawing/2014/main" id="{A62EB8E7-D096-6CB2-486B-DAB70D0F5768}"/>
              </a:ext>
            </a:extLst>
          </p:cNvPr>
          <p:cNvSpPr txBox="1"/>
          <p:nvPr/>
        </p:nvSpPr>
        <p:spPr>
          <a:xfrm>
            <a:off x="5427853" y="9969505"/>
            <a:ext cx="4147500" cy="4744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1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Recurso excedente: $</a:t>
            </a:r>
            <a:r>
              <a:rPr lang="es-ES" sz="17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2.400 + IVA</a:t>
            </a:r>
            <a:endParaRPr lang="es-ES" sz="1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6" name="Google Shape;124;p13"/>
          <p:cNvSpPr/>
          <p:nvPr/>
        </p:nvSpPr>
        <p:spPr>
          <a:xfrm>
            <a:off x="2644044" y="9763013"/>
            <a:ext cx="2893155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5" name="Google Shape;130;p13"/>
          <p:cNvSpPr txBox="1"/>
          <p:nvPr/>
        </p:nvSpPr>
        <p:spPr>
          <a:xfrm>
            <a:off x="2758784" y="9619264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2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Mensual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7" name="Google Shape;130;p13"/>
          <p:cNvSpPr txBox="1"/>
          <p:nvPr/>
        </p:nvSpPr>
        <p:spPr>
          <a:xfrm>
            <a:off x="11524385" y="9019580"/>
            <a:ext cx="6042646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Valor total: 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Bonificado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38" name="Google Shape;124;p13"/>
          <p:cNvSpPr/>
          <p:nvPr/>
        </p:nvSpPr>
        <p:spPr>
          <a:xfrm>
            <a:off x="11441280" y="9763013"/>
            <a:ext cx="3067200" cy="526532"/>
          </a:xfrm>
          <a:prstGeom prst="roundRect">
            <a:avLst>
              <a:gd name="adj" fmla="val 17480"/>
            </a:avLst>
          </a:prstGeom>
          <a:solidFill>
            <a:srgbClr val="F2FAFF"/>
          </a:solidFill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39" name="Google Shape;130;p13"/>
          <p:cNvSpPr txBox="1"/>
          <p:nvPr/>
        </p:nvSpPr>
        <p:spPr>
          <a:xfrm>
            <a:off x="11558177" y="9596382"/>
            <a:ext cx="4147500" cy="6078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95575" rIns="0" bIns="0" anchor="t" anchorCtr="0">
            <a:spAutoFit/>
          </a:bodyPr>
          <a:lstStyle/>
          <a:p>
            <a:pPr marL="12700" lvl="0" indent="0" algn="l" rtl="0">
              <a:lnSpc>
                <a:spcPts val="32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Frecuencia</a:t>
            </a:r>
            <a:r>
              <a:rPr lang="es-ES" sz="22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: </a:t>
            </a:r>
            <a:r>
              <a:rPr lang="es-ES" sz="22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Única vez</a:t>
            </a:r>
            <a:endParaRPr sz="22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40" name="Google Shape;147;p13"/>
          <p:cNvSpPr txBox="1">
            <a:spLocks noGrp="1"/>
          </p:cNvSpPr>
          <p:nvPr>
            <p:ph type="body" idx="1"/>
          </p:nvPr>
        </p:nvSpPr>
        <p:spPr>
          <a:xfrm>
            <a:off x="11893922" y="7567907"/>
            <a:ext cx="6407700" cy="31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45400" rIns="0" bIns="0" anchor="ctr" anchorCtr="0">
            <a:noAutofit/>
          </a:bodyPr>
          <a:lstStyle/>
          <a:p>
            <a:pPr marL="0" marR="541655" lvl="0" indent="0"/>
            <a:r>
              <a:rPr lang="es-MX" sz="2300" b="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Soporte especial por WhatsApp por 30 días.</a:t>
            </a:r>
            <a:endParaRPr sz="2300" b="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41" name="Google Shape;148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410800" y="7672379"/>
            <a:ext cx="233794" cy="24143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7"/>
          <p:cNvSpPr/>
          <p:nvPr/>
        </p:nvSpPr>
        <p:spPr>
          <a:xfrm>
            <a:off x="0" y="1996550"/>
            <a:ext cx="20125500" cy="9388800"/>
          </a:xfrm>
          <a:prstGeom prst="rect">
            <a:avLst/>
          </a:prstGeom>
          <a:solidFill>
            <a:srgbClr val="E6F3FF">
              <a:alpha val="40784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59" name="Google Shape;159;p7"/>
          <p:cNvSpPr txBox="1"/>
          <p:nvPr>
            <p:ph type="title"/>
          </p:nvPr>
        </p:nvSpPr>
        <p:spPr>
          <a:xfrm>
            <a:off x="1799875" y="656700"/>
            <a:ext cx="10193100" cy="6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5250">
            <a:spAutoFit/>
          </a:bodyPr>
          <a:lstStyle/>
          <a:p>
            <a:pPr indent="0" lvl="0" marL="12700" marR="508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s-ES" sz="385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Especificaciones </a:t>
            </a:r>
            <a:r>
              <a:rPr lang="es-ES" sz="385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Propuesta Naaloo</a:t>
            </a:r>
            <a:endParaRPr sz="3850">
              <a:solidFill>
                <a:srgbClr val="152F72"/>
              </a:solidFill>
            </a:endParaRPr>
          </a:p>
        </p:txBody>
      </p:sp>
      <p:sp>
        <p:nvSpPr>
          <p:cNvPr id="160" name="Google Shape;160;p7"/>
          <p:cNvSpPr txBox="1"/>
          <p:nvPr>
            <p:ph idx="1" type="body"/>
          </p:nvPr>
        </p:nvSpPr>
        <p:spPr>
          <a:xfrm>
            <a:off x="1799875" y="2778865"/>
            <a:ext cx="8117700" cy="81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Impuestos y moneda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presupuestados no incluyen IVA y la moneda de pago es pesos argentinos. 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0"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Factura inicial y activación de la cuenta 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Una vez aceptada la propuesta y recibida la información solicitada, el equipo de Administración procesará el alta y enviará la factura inicial correspondiente. La factura tiene una vigencia de 5 días hábiles para mantener las condiciones comerciales acordadas. Con el pago, comienza la activación de la cuenta: el equipo de Activación se contactará dentro de las 24 horas para coordinar la reunión de inicio y dar curso a la implementación. La implementación no tiene costo. 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0"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Facturación recurrente de la licencia mensual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 partir de la confirmación del cobro de la factura inicial, el servicio se considera activo y comienza el ciclo de facturación mensual y recurrente. El día 01 de cada mes recibirán por correo electrónico la factura correspondiente y deberá ser abonada sin excepciones. Condiciones de pago: 10 días ff. La mora se producirá de forma automática al día siguiente de cumplirse dicho plazo.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Condiciones de la propuesta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El plazo de validez de esta propuesta es de 15 días a partir de su emisión. 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61" name="Google Shape;161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7639067" y="727950"/>
            <a:ext cx="1636959" cy="4701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162" name="Google Shape;162;p7"/>
          <p:cNvGrpSpPr/>
          <p:nvPr/>
        </p:nvGrpSpPr>
        <p:grpSpPr>
          <a:xfrm>
            <a:off x="-24895" y="-159500"/>
            <a:ext cx="842746" cy="11474140"/>
            <a:chOff x="-24895" y="-159500"/>
            <a:chExt cx="842746" cy="11474140"/>
          </a:xfrm>
        </p:grpSpPr>
        <p:pic>
          <p:nvPicPr>
            <p:cNvPr id="163" name="Google Shape;163;p7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0" y="5289"/>
              <a:ext cx="817851" cy="11309351"/>
            </a:xfrm>
            <a:prstGeom prst="rect">
              <a:avLst/>
            </a:prstGeom>
            <a:noFill/>
            <a:ln>
              <a:noFill/>
            </a:ln>
          </p:spPr>
        </p:pic>
        <p:sp>
          <p:nvSpPr>
            <p:cNvPr id="164" name="Google Shape;164;p7"/>
            <p:cNvSpPr txBox="1"/>
            <p:nvPr/>
          </p:nvSpPr>
          <p:spPr>
            <a:xfrm>
              <a:off x="-24895" y="10211350"/>
              <a:ext cx="817800" cy="945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0"/>
                <a:buFont typeface="Arial"/>
                <a:buNone/>
              </a:pPr>
              <a:r>
                <a:rPr b="0" i="0" lang="es-ES" sz="2000" u="none" cap="none" strike="noStrike">
                  <a:solidFill>
                    <a:srgbClr val="152F72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 07</a:t>
              </a:r>
              <a:endParaRPr b="0" i="0" sz="2000" u="none" cap="none" strike="noStrike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  <p:sp>
          <p:nvSpPr>
            <p:cNvPr id="165" name="Google Shape;165;p7"/>
            <p:cNvSpPr txBox="1"/>
            <p:nvPr/>
          </p:nvSpPr>
          <p:spPr>
            <a:xfrm rot="-5400000">
              <a:off x="-1116425" y="1021450"/>
              <a:ext cx="3050700" cy="6888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200"/>
                <a:buFont typeface="Arial"/>
                <a:buNone/>
              </a:pPr>
              <a:r>
                <a:rPr b="0" i="0" lang="es-ES" sz="2200" u="none" cap="none" strike="noStrike">
                  <a:solidFill>
                    <a:srgbClr val="3AA0F8"/>
                  </a:solidFill>
                  <a:latin typeface="Figtree SemiBold"/>
                  <a:ea typeface="Figtree SemiBold"/>
                  <a:cs typeface="Figtree SemiBold"/>
                  <a:sym typeface="Figtree SemiBold"/>
                </a:rPr>
                <a:t>Propuesta Naaloo</a:t>
              </a:r>
              <a:endParaRPr b="0" i="0" sz="2200" u="none" cap="none" strike="noStrike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endParaRPr>
            </a:p>
          </p:txBody>
        </p:sp>
      </p:grpSp>
      <p:sp>
        <p:nvSpPr>
          <p:cNvPr id="166" name="Google Shape;166;p7"/>
          <p:cNvSpPr txBox="1"/>
          <p:nvPr>
            <p:ph idx="1" type="body"/>
          </p:nvPr>
        </p:nvSpPr>
        <p:spPr>
          <a:xfrm>
            <a:off x="10899600" y="2778875"/>
            <a:ext cx="8117700" cy="7459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Descuentos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Por medio de pago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Obtén un 10% de descuento en tu presupuesto al adherirse al débito automático.</a:t>
            </a:r>
            <a:endParaRPr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Por pago anticipado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Si abonas de forma anticipada, obtendrás: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• 15% de descuento al pagar un año completo.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• 20% de descuento por dos años.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• 25% de descuento por tres años.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*No se ofrece reembolso si se decide dejar de usar la suscripción a Naaloo durante el Plazo de Suscripción.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20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de tarifas</a:t>
            </a:r>
            <a:endParaRPr sz="20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Los valores se actualizarán trimestralmente en enero, abril, julio y octubre, según la variación del IPC publicado por el INDEC.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Actualización tecnológica (I+D)</a:t>
            </a:r>
            <a:endParaRPr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indent="0" lvl="0" marL="127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b="0" lang="es-ES" sz="190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Naaloo incorpora nuevas funcionalidades, mejoras y actualizaciones de forma permanente, todas están incluidas en tu licencia y sin costo por módulo. Para sostener esa evolución, en Julio y Enero se cobrará de manera única un 5% sobre la licencia mensual, adicional a la actualización por IPC. </a:t>
            </a:r>
            <a:endParaRPr b="0" sz="190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Google Shape;90;p11"/>
          <p:cNvPicPr preferRelativeResize="0"/>
          <p:nvPr/>
        </p:nvPicPr>
        <p:blipFill>
          <a:blip r:embed="rId3">
            <a:alphaModFix amt="66000"/>
          </a:blip>
          <a:stretch>
            <a:fillRect/>
          </a:stretch>
        </p:blipFill>
        <p:spPr>
          <a:xfrm rot="10800000">
            <a:off x="457202" y="-401"/>
            <a:ext cx="19646898" cy="11318375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1"/>
          <p:cNvSpPr txBox="1"/>
          <p:nvPr/>
        </p:nvSpPr>
        <p:spPr>
          <a:xfrm>
            <a:off x="2477150" y="3635219"/>
            <a:ext cx="4515600" cy="202490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201925" rIns="0" bIns="0" anchor="t" anchorCtr="0">
            <a:spAutoFit/>
          </a:bodyPr>
          <a:lstStyle/>
          <a:p>
            <a:pPr marL="12700" marR="5080" lvl="0" indent="0" rtl="0">
              <a:lnSpc>
                <a:spcPts val="706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68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camino </a:t>
            </a:r>
            <a:r>
              <a:rPr lang="es-ES" sz="68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con </a:t>
            </a:r>
            <a:r>
              <a:rPr lang="es-ES" sz="6800" b="1" dirty="0" smtClean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68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93" name="Google Shape;93;p11"/>
          <p:cNvSpPr txBox="1"/>
          <p:nvPr/>
        </p:nvSpPr>
        <p:spPr>
          <a:xfrm>
            <a:off x="2477150" y="6110329"/>
            <a:ext cx="5048700" cy="1231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7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Timeline de implementación</a:t>
            </a:r>
            <a:endParaRPr sz="37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94" name="Google Shape;94;p1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025" y="-88500"/>
            <a:ext cx="817850" cy="11398249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1"/>
          <p:cNvSpPr txBox="1"/>
          <p:nvPr/>
        </p:nvSpPr>
        <p:spPr>
          <a:xfrm>
            <a:off x="-27420" y="1018888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</a:t>
            </a: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08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96" name="Google Shape;96;p11"/>
          <p:cNvSpPr txBox="1"/>
          <p:nvPr/>
        </p:nvSpPr>
        <p:spPr>
          <a:xfrm rot="-5400000">
            <a:off x="-1058900" y="888700"/>
            <a:ext cx="2951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Implementación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D5BA20F-3417-9C46-E5A6-A082D20172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599516" y="-88500"/>
            <a:ext cx="13028948" cy="11486745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4"/>
          <p:cNvSpPr txBox="1">
            <a:spLocks noGrp="1"/>
          </p:cNvSpPr>
          <p:nvPr>
            <p:ph type="title"/>
          </p:nvPr>
        </p:nvSpPr>
        <p:spPr>
          <a:xfrm>
            <a:off x="1708772" y="1286350"/>
            <a:ext cx="8247300" cy="63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7125" rIns="0" bIns="0" anchor="t" anchorCtr="0">
            <a:spAutoFit/>
          </a:bodyPr>
          <a:lstStyle/>
          <a:p>
            <a:pPr marL="1270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Te acompañamos en </a:t>
            </a:r>
            <a:r>
              <a:rPr lang="es-ES" sz="4000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cada paso</a:t>
            </a:r>
            <a:endParaRPr sz="4000" dirty="0">
              <a:solidFill>
                <a:srgbClr val="379DF6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158" name="Google Shape;158;p1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159500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14"/>
          <p:cNvSpPr txBox="1"/>
          <p:nvPr/>
        </p:nvSpPr>
        <p:spPr>
          <a:xfrm>
            <a:off x="10275" y="10193765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 smtClean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09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60" name="Google Shape;160;p14"/>
          <p:cNvSpPr txBox="1"/>
          <p:nvPr/>
        </p:nvSpPr>
        <p:spPr>
          <a:xfrm rot="-5400000">
            <a:off x="-1116425" y="308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Propuesta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61" name="Google Shape;161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7580917" y="1318500"/>
            <a:ext cx="1636959" cy="470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08772" y="3437692"/>
            <a:ext cx="17509104" cy="640282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6"/>
          <p:cNvSpPr/>
          <p:nvPr/>
        </p:nvSpPr>
        <p:spPr>
          <a:xfrm>
            <a:off x="-50" y="-83250"/>
            <a:ext cx="20104200" cy="114687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189" name="Google Shape;189;p16"/>
          <p:cNvSpPr txBox="1">
            <a:spLocks noGrp="1"/>
          </p:cNvSpPr>
          <p:nvPr>
            <p:ph type="title"/>
          </p:nvPr>
        </p:nvSpPr>
        <p:spPr>
          <a:xfrm>
            <a:off x="1697576" y="1687750"/>
            <a:ext cx="8537400" cy="13195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13025" rIns="0" bIns="0" anchor="t" anchorCtr="0">
            <a:spAutoFit/>
          </a:bodyPr>
          <a:lstStyle/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¡Sumarte tiene un </a:t>
            </a: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impacto </a:t>
            </a:r>
            <a:endParaRPr sz="4100" dirty="0">
              <a:solidFill>
                <a:srgbClr val="379FF8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ts val="4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4100" dirty="0">
                <a:solidFill>
                  <a:srgbClr val="379FF8"/>
                </a:solidFill>
                <a:latin typeface="Figtree"/>
                <a:ea typeface="Figtree"/>
                <a:cs typeface="Figtree"/>
                <a:sym typeface="Figtree"/>
              </a:rPr>
              <a:t>positivo</a:t>
            </a:r>
            <a:r>
              <a:rPr lang="es-ES" sz="41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para el mundo!</a:t>
            </a:r>
            <a:endParaRPr sz="41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190" name="Google Shape;190;p16"/>
          <p:cNvSpPr txBox="1"/>
          <p:nvPr/>
        </p:nvSpPr>
        <p:spPr>
          <a:xfrm>
            <a:off x="10770610" y="1792227"/>
            <a:ext cx="8505300" cy="154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37450" rIns="0" bIns="0" anchor="t" anchorCtr="0">
            <a:spAutoFit/>
          </a:bodyPr>
          <a:lstStyle/>
          <a:p>
            <a:pPr marL="12700" marR="508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152F72"/>
                </a:solidFill>
                <a:latin typeface="Figtree Medium"/>
                <a:ea typeface="Figtree Medium"/>
                <a:cs typeface="Figtree Medium"/>
                <a:sym typeface="Figtree Medium"/>
              </a:rPr>
              <a:t>Sabemos que no solo quieres mejorar a tu equipo, quieres cambiar el planeta y Naaloo lo lleva en su ADN. Por eso, cuando te unes a nuestra comunidad, estás haciendo mucho más que mejorar tu gestión. ¡Mira!</a:t>
            </a:r>
            <a:endParaRPr sz="2200" dirty="0">
              <a:solidFill>
                <a:srgbClr val="152F72"/>
              </a:solidFill>
              <a:latin typeface="Figtree Medium"/>
              <a:ea typeface="Figtree Medium"/>
              <a:cs typeface="Figtree Medium"/>
              <a:sym typeface="Figtree Medium"/>
            </a:endParaRPr>
          </a:p>
        </p:txBody>
      </p:sp>
      <p:pic>
        <p:nvPicPr>
          <p:cNvPr id="191" name="Google Shape;191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18000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2" name="Google Shape;192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700052" y="4073836"/>
            <a:ext cx="8575896" cy="6470513"/>
          </a:xfrm>
          <a:prstGeom prst="rect">
            <a:avLst/>
          </a:prstGeom>
          <a:noFill/>
          <a:ln>
            <a:noFill/>
          </a:ln>
        </p:spPr>
      </p:pic>
      <p:pic>
        <p:nvPicPr>
          <p:cNvPr id="193" name="Google Shape;193;p16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0" y="-141915"/>
            <a:ext cx="817850" cy="11468850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16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 dirty="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10</a:t>
            </a:r>
            <a:endParaRPr sz="2000" dirty="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95" name="Google Shape;195;p16"/>
          <p:cNvSpPr txBox="1"/>
          <p:nvPr/>
        </p:nvSpPr>
        <p:spPr>
          <a:xfrm rot="-5400000">
            <a:off x="-1116425" y="640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 dirty="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Bosque Naaloo</a:t>
            </a:r>
            <a:endParaRPr sz="2200" dirty="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pic>
        <p:nvPicPr>
          <p:cNvPr id="196" name="Google Shape;196;p16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773775" y="785100"/>
            <a:ext cx="1541925" cy="442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n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06" y="0"/>
            <a:ext cx="20105512" cy="113093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Imagen 14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35445" y="0"/>
            <a:ext cx="10322445" cy="11309350"/>
          </a:xfrm>
          <a:prstGeom prst="rect">
            <a:avLst/>
          </a:prstGeom>
        </p:spPr>
      </p:pic>
      <p:sp>
        <p:nvSpPr>
          <p:cNvPr id="209" name="Google Shape;209;p18"/>
          <p:cNvSpPr txBox="1">
            <a:spLocks noGrp="1"/>
          </p:cNvSpPr>
          <p:nvPr>
            <p:ph type="title"/>
          </p:nvPr>
        </p:nvSpPr>
        <p:spPr>
          <a:xfrm>
            <a:off x="2043215" y="976718"/>
            <a:ext cx="5169408" cy="9624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lvl="0" indent="0" algn="l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Tu experiencia es nuestra </a:t>
            </a:r>
            <a:r>
              <a:rPr lang="es-ES" sz="3400" dirty="0" smtClean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prioridad</a:t>
            </a:r>
            <a:endParaRPr sz="3400" dirty="0">
              <a:solidFill>
                <a:srgbClr val="3AA0F8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11" name="Google Shape;211;p1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817850" cy="1130935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18"/>
          <p:cNvSpPr txBox="1"/>
          <p:nvPr/>
        </p:nvSpPr>
        <p:spPr>
          <a:xfrm>
            <a:off x="-35445" y="10211350"/>
            <a:ext cx="817800" cy="94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000">
                <a:solidFill>
                  <a:srgbClr val="152F72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 12</a:t>
            </a:r>
            <a:endParaRPr sz="2000">
              <a:solidFill>
                <a:srgbClr val="152F72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213" name="Google Shape;213;p18"/>
          <p:cNvSpPr txBox="1"/>
          <p:nvPr/>
        </p:nvSpPr>
        <p:spPr>
          <a:xfrm rot="-5400000">
            <a:off x="-1116425" y="1021450"/>
            <a:ext cx="3050700" cy="68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 sz="2200">
                <a:solidFill>
                  <a:srgbClr val="3AA0F8"/>
                </a:solidFill>
                <a:latin typeface="Figtree SemiBold"/>
                <a:ea typeface="Figtree SemiBold"/>
                <a:cs typeface="Figtree SemiBold"/>
                <a:sym typeface="Figtree SemiBold"/>
              </a:rPr>
              <a:t>Nuestros clientes</a:t>
            </a:r>
            <a:endParaRPr sz="2200">
              <a:solidFill>
                <a:srgbClr val="3AA0F8"/>
              </a:solidFill>
              <a:latin typeface="Figtree SemiBold"/>
              <a:ea typeface="Figtree SemiBold"/>
              <a:cs typeface="Figtree SemiBold"/>
              <a:sym typeface="Figtree SemiBold"/>
            </a:endParaRPr>
          </a:p>
        </p:txBody>
      </p:sp>
      <p:sp>
        <p:nvSpPr>
          <p:cNvPr id="13" name="Google Shape;210;p18"/>
          <p:cNvSpPr txBox="1"/>
          <p:nvPr/>
        </p:nvSpPr>
        <p:spPr>
          <a:xfrm>
            <a:off x="11600168" y="995768"/>
            <a:ext cx="6116332" cy="9630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950" rIns="0" bIns="0" anchor="t" anchorCtr="0">
            <a:spAutoFit/>
          </a:bodyPr>
          <a:lstStyle/>
          <a:p>
            <a:pPr lvl="0" indent="0" algn="l" defTabSz="828000" rtl="0">
              <a:lnSpc>
                <a:spcPts val="3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Nuestros </a:t>
            </a:r>
            <a:r>
              <a:rPr lang="es-ES" sz="3400" b="1" dirty="0" smtClean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usuarios </a:t>
            </a:r>
            <a:r>
              <a:rPr lang="es-ES" sz="3400" b="1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recomiendan</a:t>
            </a:r>
            <a:r>
              <a:rPr lang="es-ES" sz="3400" b="1" dirty="0">
                <a:solidFill>
                  <a:srgbClr val="151515"/>
                </a:solidFill>
                <a:latin typeface="Figtree"/>
                <a:ea typeface="Figtree"/>
                <a:cs typeface="Figtree"/>
                <a:sym typeface="Figtree"/>
              </a:rPr>
              <a:t> </a:t>
            </a:r>
            <a:r>
              <a:rPr lang="es-ES" sz="3400" b="1" dirty="0">
                <a:solidFill>
                  <a:srgbClr val="379DF6"/>
                </a:solidFill>
                <a:latin typeface="Figtree"/>
                <a:ea typeface="Figtree"/>
                <a:cs typeface="Figtree"/>
                <a:sym typeface="Figtree"/>
              </a:rPr>
              <a:t>Naaloo</a:t>
            </a:r>
            <a:endParaRPr sz="3400" dirty="0"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6" name="CuadroTexto 5"/>
          <p:cNvSpPr txBox="1"/>
          <p:nvPr/>
        </p:nvSpPr>
        <p:spPr>
          <a:xfrm>
            <a:off x="1876503" y="10552973"/>
            <a:ext cx="813435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Fuente: Encuesta anual de satisfacción </a:t>
            </a:r>
            <a:r>
              <a:rPr lang="es-MX" sz="1600" dirty="0" err="1">
                <a:solidFill>
                  <a:srgbClr val="001F4E"/>
                </a:solidFill>
                <a:latin typeface="Figtree" pitchFamily="2" charset="0"/>
              </a:rPr>
              <a:t>Naaloo</a:t>
            </a:r>
            <a:r>
              <a:rPr lang="es-MX" sz="1600" dirty="0">
                <a:solidFill>
                  <a:srgbClr val="001F4E"/>
                </a:solidFill>
                <a:latin typeface="Figtree" pitchFamily="2" charset="0"/>
              </a:rPr>
              <a:t> </a:t>
            </a:r>
            <a:r>
              <a:rPr lang="es-MX" sz="1600" dirty="0" smtClean="0">
                <a:solidFill>
                  <a:srgbClr val="001F4E"/>
                </a:solidFill>
                <a:latin typeface="Figtree" pitchFamily="2" charset="0"/>
              </a:rPr>
              <a:t>2025.</a:t>
            </a:r>
            <a:endParaRPr lang="en-US" sz="1600" dirty="0">
              <a:solidFill>
                <a:srgbClr val="001F4E"/>
              </a:solidFill>
              <a:latin typeface="Figtree" pitchFamily="2" charset="0"/>
            </a:endParaRPr>
          </a:p>
        </p:txBody>
      </p:sp>
      <p:pic>
        <p:nvPicPr>
          <p:cNvPr id="3" name="Imagen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875" y="2614124"/>
            <a:ext cx="2581462" cy="3496802"/>
          </a:xfrm>
          <a:prstGeom prst="rect">
            <a:avLst/>
          </a:prstGeom>
        </p:spPr>
      </p:pic>
      <p:pic>
        <p:nvPicPr>
          <p:cNvPr id="5" name="Imagen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04059" y="2596539"/>
            <a:ext cx="2756303" cy="3825913"/>
          </a:xfrm>
          <a:prstGeom prst="rect">
            <a:avLst/>
          </a:prstGeom>
        </p:spPr>
      </p:pic>
      <p:pic>
        <p:nvPicPr>
          <p:cNvPr id="9" name="Imagen 8"/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55290" y="7045835"/>
            <a:ext cx="7522817" cy="2676582"/>
          </a:xfrm>
          <a:prstGeom prst="rect">
            <a:avLst/>
          </a:prstGeom>
        </p:spPr>
      </p:pic>
      <p:pic>
        <p:nvPicPr>
          <p:cNvPr id="10" name="Imagen 9"/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00168" y="6273991"/>
            <a:ext cx="7104002" cy="3905124"/>
          </a:xfrm>
          <a:prstGeom prst="rect">
            <a:avLst/>
          </a:prstGeom>
        </p:spPr>
      </p:pic>
      <p:pic>
        <p:nvPicPr>
          <p:cNvPr id="14" name="Imagen 13"/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30069" y="2492457"/>
            <a:ext cx="5703007" cy="2776596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9"/>
          <p:cNvSpPr/>
          <p:nvPr/>
        </p:nvSpPr>
        <p:spPr>
          <a:xfrm>
            <a:off x="9158600" y="-112850"/>
            <a:ext cx="10945500" cy="11422200"/>
          </a:xfrm>
          <a:prstGeom prst="rect">
            <a:avLst/>
          </a:prstGeom>
          <a:solidFill>
            <a:srgbClr val="E6F3FF">
              <a:alpha val="4088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s-ES">
                <a:latin typeface="Trebuchet MS"/>
                <a:ea typeface="Trebuchet MS"/>
                <a:cs typeface="Trebuchet MS"/>
                <a:sym typeface="Trebuchet MS"/>
              </a:rPr>
              <a:t> </a:t>
            </a:r>
            <a:endParaRPr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222" name="Google Shape;222;p19"/>
          <p:cNvSpPr txBox="1">
            <a:spLocks noGrp="1"/>
          </p:cNvSpPr>
          <p:nvPr>
            <p:ph type="title"/>
          </p:nvPr>
        </p:nvSpPr>
        <p:spPr>
          <a:xfrm>
            <a:off x="1625775" y="2125300"/>
            <a:ext cx="6102600" cy="1413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3325" rIns="0" bIns="0" anchor="t" anchorCtr="0">
            <a:spAutoFit/>
          </a:bodyPr>
          <a:lstStyle/>
          <a:p>
            <a:pPr marL="12700" marR="5080" lvl="0" indent="0" algn="l" rtl="0">
              <a:lnSpc>
                <a:spcPts val="53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s-ES" sz="5000" dirty="0">
                <a:solidFill>
                  <a:srgbClr val="3AA0F8"/>
                </a:solidFill>
                <a:latin typeface="Figtree"/>
                <a:ea typeface="Figtree"/>
                <a:cs typeface="Figtree"/>
                <a:sym typeface="Figtree"/>
              </a:rPr>
              <a:t>Desbloquea</a:t>
            </a:r>
            <a:r>
              <a:rPr lang="es-ES" sz="50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 el siguiente nivel</a:t>
            </a:r>
            <a:endParaRPr sz="50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sp>
        <p:nvSpPr>
          <p:cNvPr id="223" name="Google Shape;223;p19"/>
          <p:cNvSpPr txBox="1"/>
          <p:nvPr/>
        </p:nvSpPr>
        <p:spPr>
          <a:xfrm>
            <a:off x="1632900" y="4040925"/>
            <a:ext cx="5821500" cy="2885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80975" rIns="0" bIns="0" anchor="t" anchorCtr="0">
            <a:spAutoFit/>
          </a:bodyPr>
          <a:lstStyle/>
          <a:p>
            <a:pPr marL="0" lvl="0" indent="0" algn="l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s-ES" sz="2600" dirty="0">
                <a:solidFill>
                  <a:srgbClr val="152F72"/>
                </a:solidFill>
                <a:latin typeface="Figtree"/>
                <a:ea typeface="Figtree"/>
                <a:cs typeface="Figtree"/>
                <a:sym typeface="Figtree"/>
              </a:rPr>
              <a:t>Estamos listos para acompañarte en esta transformación. Solo necesitamos tu OK, y nuestro equipo se encargará de que la implementación sea simple y efectiva desde el primer día.</a:t>
            </a: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  <a:p>
            <a:pPr marL="12700" marR="5080" lvl="0" indent="0" algn="l" rtl="0">
              <a:lnSpc>
                <a:spcPct val="110000"/>
              </a:lnSpc>
              <a:spcBef>
                <a:spcPts val="10"/>
              </a:spcBef>
              <a:spcAft>
                <a:spcPts val="0"/>
              </a:spcAft>
              <a:buNone/>
            </a:pPr>
            <a:endParaRPr sz="2600" dirty="0">
              <a:solidFill>
                <a:srgbClr val="152F72"/>
              </a:solidFill>
              <a:latin typeface="Figtree"/>
              <a:ea typeface="Figtree"/>
              <a:cs typeface="Figtree"/>
              <a:sym typeface="Figtree"/>
            </a:endParaRPr>
          </a:p>
        </p:txBody>
      </p:sp>
      <p:pic>
        <p:nvPicPr>
          <p:cNvPr id="225" name="Google Shape;225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43725" y="7170148"/>
            <a:ext cx="2832500" cy="7450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1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0890075" y="-1553674"/>
            <a:ext cx="7820751" cy="14416701"/>
          </a:xfrm>
          <a:prstGeom prst="rect">
            <a:avLst/>
          </a:prstGeom>
          <a:noFill/>
          <a:ln>
            <a:noFill/>
          </a:ln>
        </p:spPr>
      </p:pic>
      <p:pic>
        <p:nvPicPr>
          <p:cNvPr id="2" name="Imagen 1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3725" y="8766572"/>
            <a:ext cx="3543977" cy="612051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51515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4367</TotalTime>
  <Words>832</Words>
  <Application>Microsoft Office PowerPoint</Application>
  <PresentationFormat>Personalizado</PresentationFormat>
  <Paragraphs>104</Paragraphs>
  <Slides>13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13</vt:i4>
      </vt:variant>
    </vt:vector>
  </HeadingPairs>
  <TitlesOfParts>
    <vt:vector size="20" baseType="lpstr">
      <vt:lpstr>Figtree SemiBold</vt:lpstr>
      <vt:lpstr>Calibri</vt:lpstr>
      <vt:lpstr>Figtree Medium</vt:lpstr>
      <vt:lpstr>Figtree</vt:lpstr>
      <vt:lpstr>Trebuchet MS</vt:lpstr>
      <vt:lpstr>Arial</vt:lpstr>
      <vt:lpstr>Office Theme</vt:lpstr>
      <vt:lpstr>Presentación de PowerPoint</vt:lpstr>
      <vt:lpstr>Presentación de PowerPoint</vt:lpstr>
      <vt:lpstr>Qué beneficios vamos a ofrecer</vt:lpstr>
      <vt:lpstr>¡Naaloo en números! Beneficios medibles</vt:lpstr>
      <vt:lpstr>Funcionalidades incluidas</vt:lpstr>
      <vt:lpstr>Propuesta Naaloo</vt:lpstr>
      <vt:lpstr>Especificaciones Propuesta Naaloo</vt:lpstr>
      <vt:lpstr>Presentación de PowerPoint</vt:lpstr>
      <vt:lpstr>Te acompañamos en cada paso</vt:lpstr>
      <vt:lpstr>¡Sumarte tiene un impacto  positivo para el mundo!</vt:lpstr>
      <vt:lpstr>Presentación de PowerPoint</vt:lpstr>
      <vt:lpstr>Tu experiencia es nuestra prioridad</vt:lpstr>
      <vt:lpstr>Desbloquea el siguiente nivel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Usuario</dc:creator>
  <cp:lastModifiedBy>Usuario</cp:lastModifiedBy>
  <cp:revision>78</cp:revision>
  <dcterms:modified xsi:type="dcterms:W3CDTF">2026-10-01T14:21:12Z</dcterms:modified>
</cp:coreProperties>
</file>