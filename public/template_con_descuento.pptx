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1" r:id="rId6"/>
    <p:sldId id="270" r:id="rId7"/>
    <p:sldId id="264" r:id="rId8"/>
    <p:sldId id="260" r:id="rId9"/>
    <p:sldId id="263" r:id="rId10"/>
    <p:sldId id="265" r:id="rId11"/>
    <p:sldId id="266" r:id="rId12"/>
    <p:sldId id="267" r:id="rId13"/>
    <p:sldId id="268" r:id="rId14"/>
  </p:sldIdLst>
  <p:sldSz cx="20104100" cy="11309350"/>
  <p:notesSz cx="20104100" cy="1130935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Trebuchet MS" panose="020B0603020202020204" pitchFamily="34" charset="0"/>
      <p:regular r:id="rId20"/>
      <p:bold r:id="rId21"/>
      <p:italic r:id="rId22"/>
      <p:boldItalic r:id="rId23"/>
    </p:embeddedFont>
    <p:embeddedFont>
      <p:font typeface="Figtree Medium" pitchFamily="2" charset="0"/>
      <p:regular r:id="rId24"/>
      <p:bold r:id="rId25"/>
      <p:italic r:id="rId26"/>
      <p:boldItalic r:id="rId27"/>
    </p:embeddedFont>
    <p:embeddedFont>
      <p:font typeface="Figtree SemiBold" pitchFamily="2" charset="0"/>
      <p:regular r:id="rId28"/>
      <p:bold r:id="rId29"/>
      <p:italic r:id="rId30"/>
      <p:boldItalic r:id="rId31"/>
    </p:embeddedFont>
    <p:embeddedFont>
      <p:font typeface="Figtree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4FE"/>
    <a:srgbClr val="F1F7FF"/>
    <a:srgbClr val="E5F5FF"/>
    <a:srgbClr val="001F4E"/>
    <a:srgbClr val="DBEEFD"/>
    <a:srgbClr val="ECF6FE"/>
    <a:srgbClr val="3AA0F8"/>
    <a:srgbClr val="D7ECFD"/>
    <a:srgbClr val="CCE6FC"/>
    <a:srgbClr val="F2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44" d="100"/>
          <a:sy n="44" d="100"/>
        </p:scale>
        <p:origin x="10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8349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" name="Google Shape;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cd1819c35_0_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g32cd1819c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670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99e7f2fdf_1_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299e7f2f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10306286" y="2044347"/>
            <a:ext cx="8131175" cy="273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364584" y="2557291"/>
            <a:ext cx="5529580" cy="630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3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 u="none" strike="noStrike" cap="none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06286" y="2044347"/>
            <a:ext cx="8131175" cy="273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 u="none" strike="noStrike" cap="none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9">
            <a:extLst>
              <a:ext uri="{FF2B5EF4-FFF2-40B4-BE49-F238E27FC236}">
                <a16:creationId xmlns:a16="http://schemas.microsoft.com/office/drawing/2014/main" id="{0752F877-6160-34FD-0395-227B1E066399}"/>
              </a:ext>
            </a:extLst>
          </p:cNvPr>
          <p:cNvSpPr txBox="1"/>
          <p:nvPr/>
        </p:nvSpPr>
        <p:spPr>
          <a:xfrm>
            <a:off x="5389550" y="7529356"/>
            <a:ext cx="9403410" cy="62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marR="508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Propuesta Comercial para </a:t>
            </a:r>
            <a:r>
              <a:rPr lang="es-ES" sz="3500" b="1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[empresa]</a:t>
            </a:r>
            <a:endParaRPr sz="3500" b="1" dirty="0">
              <a:solidFill>
                <a:schemeClr val="bg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1270079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5" y="-36113"/>
            <a:ext cx="817850" cy="11381576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/>
        </p:nvSpPr>
        <p:spPr>
          <a:xfrm>
            <a:off x="-30050" y="1019572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02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2" name="Google Shape;52;p8"/>
          <p:cNvSpPr txBox="1"/>
          <p:nvPr/>
        </p:nvSpPr>
        <p:spPr>
          <a:xfrm rot="-5400000">
            <a:off x="-755900" y="824375"/>
            <a:ext cx="2345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Sobre Naaloo</a:t>
            </a:r>
            <a:endParaRPr sz="2200" dirty="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905" y="1622328"/>
            <a:ext cx="16666286" cy="80646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8236350" y="0"/>
            <a:ext cx="11867700" cy="11309400"/>
          </a:xfrm>
          <a:prstGeom prst="rect">
            <a:avLst/>
          </a:prstGeom>
          <a:solidFill>
            <a:srgbClr val="E6F3FF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833903" y="1188967"/>
            <a:ext cx="4995521" cy="127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>
              <a:lnSpc>
                <a:spcPts val="4800"/>
              </a:lnSpc>
            </a:pPr>
            <a:r>
              <a:rPr lang="es-MX" sz="45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Qué </a:t>
            </a:r>
            <a:r>
              <a:rPr lang="es-MX" sz="4500" dirty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beneficios </a:t>
            </a:r>
            <a:r>
              <a:rPr lang="es-MX" sz="45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vamos a </a:t>
            </a:r>
            <a:r>
              <a:rPr lang="es-MX" sz="45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ofrecer</a:t>
            </a:r>
            <a:endParaRPr sz="45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" name="Google Shape;60;p9"/>
          <p:cNvSpPr txBox="1"/>
          <p:nvPr/>
        </p:nvSpPr>
        <p:spPr>
          <a:xfrm>
            <a:off x="1833904" y="2875443"/>
            <a:ext cx="5548800" cy="1319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Naaloo </a:t>
            </a:r>
            <a:r>
              <a:rPr lang="es-ES" sz="28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 a simplificar tu gestión con </a:t>
            </a:r>
            <a:r>
              <a:rPr lang="es-ES" sz="28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menos carga laboral</a:t>
            </a:r>
            <a:r>
              <a:rPr lang="es-ES" sz="28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8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y</a:t>
            </a:r>
            <a:r>
              <a:rPr lang="es-ES" sz="28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8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mejores resultados.</a:t>
            </a:r>
            <a:endParaRPr sz="28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1" name="Google Shape;61;p9"/>
          <p:cNvSpPr txBox="1"/>
          <p:nvPr/>
        </p:nvSpPr>
        <p:spPr>
          <a:xfrm>
            <a:off x="9290900" y="1180549"/>
            <a:ext cx="2630100" cy="225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46228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Ahorro de hasta 60% de tiempo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Reducción de horas y costos administrativos, automatizando tareas repetitivas.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2" name="Google Shape;62;p9"/>
          <p:cNvSpPr txBox="1"/>
          <p:nvPr/>
        </p:nvSpPr>
        <p:spPr>
          <a:xfrm>
            <a:off x="9290900" y="3947750"/>
            <a:ext cx="26409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9550" rIns="0" bIns="0" anchor="t" anchorCtr="0">
            <a:spAutoFit/>
          </a:bodyPr>
          <a:lstStyle/>
          <a:p>
            <a:pPr marL="1270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Mobile &amp; 24/7</a:t>
            </a:r>
            <a:endParaRPr sz="24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42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Gestionable desde cualquier computadora o celular con Internet, las 24 </a:t>
            </a:r>
            <a:r>
              <a:rPr lang="es-ES" sz="1950" dirty="0" err="1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hs</a:t>
            </a: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3" name="Google Shape;63;p9"/>
          <p:cNvSpPr txBox="1"/>
          <p:nvPr/>
        </p:nvSpPr>
        <p:spPr>
          <a:xfrm>
            <a:off x="12687450" y="1189275"/>
            <a:ext cx="2851800" cy="226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112395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Comunicaciones simples y unificadas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210"/>
              </a:spcBef>
              <a:spcAft>
                <a:spcPts val="0"/>
              </a:spcAft>
              <a:buNone/>
            </a:pPr>
            <a:r>
              <a:rPr lang="es-ES" sz="195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Contacta </a:t>
            </a: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 todos los colaboradores en tiempo real, con datos de lectura y entendimiento.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16303650" y="1189275"/>
            <a:ext cx="2235900" cy="228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64515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Gestión centralizada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33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Toda la información e interacciones con tus equipos, en un solo lugar.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12687450" y="3999150"/>
            <a:ext cx="2865900" cy="255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Menos tareas, menos papel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17780" lvl="0" indent="0" algn="l" rtl="0">
              <a:lnSpc>
                <a:spcPts val="26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Automatización y digitalización de firma de recibos (y de cualquier documento) con validez legal.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16303650" y="3796698"/>
            <a:ext cx="2550000" cy="2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900" rIns="0" bIns="0" anchor="t" anchorCtr="0">
            <a:spAutoFit/>
          </a:bodyPr>
          <a:lstStyle/>
          <a:p>
            <a:pPr marL="1270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Home Office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-ES" sz="195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Gestiona </a:t>
            </a: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el trabajo remoto en el acto con fichaje, gestión de entregas y todo lo que </a:t>
            </a:r>
            <a:r>
              <a:rPr lang="es-ES" sz="195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necesitas</a:t>
            </a: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9"/>
          <p:cNvSpPr txBox="1"/>
          <p:nvPr/>
        </p:nvSpPr>
        <p:spPr>
          <a:xfrm>
            <a:off x="9295950" y="7182525"/>
            <a:ext cx="2905200" cy="287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883285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 err="1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Workflows</a:t>
            </a: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 automatizados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411480" lvl="0" indent="0" algn="l" rtl="0">
              <a:lnSpc>
                <a:spcPts val="2600"/>
              </a:lnSpc>
              <a:spcBef>
                <a:spcPts val="119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Optimiza y agiliza la solicitud y aprobación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de ausencias, vacaciones,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248920" lvl="0" indent="0" algn="just" rtl="0">
              <a:lnSpc>
                <a:spcPts val="26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entregas de equipos de </a:t>
            </a:r>
            <a:r>
              <a:rPr lang="es-ES" sz="195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trabajo, capacitaciones </a:t>
            </a: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y más.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" name="Google Shape;68;p9"/>
          <p:cNvSpPr txBox="1"/>
          <p:nvPr/>
        </p:nvSpPr>
        <p:spPr>
          <a:xfrm>
            <a:off x="16303650" y="7198201"/>
            <a:ext cx="27591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Siempre actualizada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34925" lvl="0" indent="0" algn="l" rtl="0">
              <a:lnSpc>
                <a:spcPts val="2600"/>
              </a:lnSpc>
              <a:spcBef>
                <a:spcPts val="175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Mejora continua de herramientas y funcionalidades en base a la experiencia de los usuarios, sin costo.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12655991" y="7074224"/>
            <a:ext cx="2717100" cy="14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9550" rIns="0" bIns="0" anchor="t" anchorCtr="0">
            <a:spAutoFit/>
          </a:bodyPr>
          <a:lstStyle/>
          <a:p>
            <a:pPr marL="1270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Simple y rápida</a:t>
            </a:r>
            <a:endParaRPr sz="240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420"/>
              </a:spcBef>
              <a:spcAft>
                <a:spcPts val="0"/>
              </a:spcAft>
              <a:buNone/>
            </a:pPr>
            <a:r>
              <a:rPr lang="es-ES" sz="195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Implementación veloz y aprendizaje intuitivo.</a:t>
            </a:r>
            <a:endParaRPr sz="195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5" y="40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-27120" y="1018888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03</a:t>
            </a:r>
            <a:endParaRPr sz="200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73" name="Google Shape;73;p9"/>
          <p:cNvSpPr txBox="1"/>
          <p:nvPr/>
        </p:nvSpPr>
        <p:spPr>
          <a:xfrm rot="-5400000">
            <a:off x="-755900" y="443375"/>
            <a:ext cx="2345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Beneficios</a:t>
            </a:r>
            <a:endParaRPr sz="220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341" y="5105994"/>
            <a:ext cx="6721909" cy="508288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535" y="6562126"/>
            <a:ext cx="3157778" cy="59011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>
            <a:off x="0" y="0"/>
            <a:ext cx="20104100" cy="36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846600" y="773350"/>
            <a:ext cx="6533700" cy="134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025" rIns="0" bIns="0" anchor="t" anchorCtr="0">
            <a:spAutoFit/>
          </a:bodyPr>
          <a:lstStyle/>
          <a:p>
            <a:pPr marL="12700" marR="5080" lvl="0" indent="0" algn="l" rtl="0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100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¡</a:t>
            </a:r>
            <a:r>
              <a:rPr lang="es-ES" sz="4100" dirty="0" smtClean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 </a:t>
            </a:r>
            <a:r>
              <a:rPr lang="es-ES" sz="41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en </a:t>
            </a:r>
            <a:r>
              <a:rPr lang="es-ES" sz="41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números! </a:t>
            </a:r>
            <a:r>
              <a:rPr lang="es-ES" sz="41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Beneficios medibles</a:t>
            </a:r>
            <a:endParaRPr sz="4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1" name="Google Shape;81;p10"/>
          <p:cNvSpPr txBox="1"/>
          <p:nvPr/>
        </p:nvSpPr>
        <p:spPr>
          <a:xfrm>
            <a:off x="10707100" y="936410"/>
            <a:ext cx="7697400" cy="832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Recupera tu inversión en tiempo récord y acelera </a:t>
            </a:r>
            <a:br>
              <a:rPr lang="es-ES" sz="24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</a:br>
            <a:r>
              <a:rPr lang="es-ES" sz="24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tu crecimiento desde el día uno.</a:t>
            </a:r>
          </a:p>
        </p:txBody>
      </p:sp>
      <p:pic>
        <p:nvPicPr>
          <p:cNvPr id="83" name="Google Shape;8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/>
        </p:nvSpPr>
        <p:spPr>
          <a:xfrm>
            <a:off x="-17560" y="1020100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04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-700325" y="503925"/>
            <a:ext cx="22185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Beneficios</a:t>
            </a:r>
            <a:endParaRPr sz="220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9ABD6-7CEF-E61B-1213-55C36655B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4200" y="2959826"/>
            <a:ext cx="17581824" cy="6751243"/>
          </a:xfrm>
          <a:prstGeom prst="rect">
            <a:avLst/>
          </a:prstGeom>
        </p:spPr>
      </p:pic>
      <p:sp>
        <p:nvSpPr>
          <p:cNvPr id="9" name="Google Shape;81;p10"/>
          <p:cNvSpPr txBox="1"/>
          <p:nvPr/>
        </p:nvSpPr>
        <p:spPr>
          <a:xfrm>
            <a:off x="1694200" y="10417214"/>
            <a:ext cx="7697400" cy="43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>
              <a:lnSpc>
                <a:spcPts val="3100"/>
              </a:lnSpc>
            </a:pPr>
            <a:r>
              <a:rPr lang="es-MX" sz="2000" b="1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Fuente: </a:t>
            </a:r>
            <a:r>
              <a:rPr lang="es-MX" sz="20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Resultados de usuarios de </a:t>
            </a:r>
            <a:r>
              <a:rPr lang="es-MX" sz="2000" dirty="0" err="1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Naaloo</a:t>
            </a:r>
            <a:r>
              <a:rPr lang="es-MX" sz="20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 </a:t>
            </a:r>
            <a:r>
              <a:rPr lang="es-MX" sz="2000" dirty="0" smtClean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2025.</a:t>
            </a:r>
            <a:endParaRPr lang="es-ES" sz="2000" dirty="0">
              <a:solidFill>
                <a:srgbClr val="152F72"/>
              </a:solidFill>
              <a:latin typeface="Figtree" pitchFamily="2" charset="0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2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>
            <a:off x="0" y="0"/>
            <a:ext cx="20104100" cy="425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1846598" y="773357"/>
            <a:ext cx="81750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025" rIns="0" bIns="0" anchor="t" anchorCtr="0">
            <a:spAutoFit/>
          </a:bodyPr>
          <a:lstStyle/>
          <a:p>
            <a:pPr marL="12700" marR="5080" lvl="0" indent="0" algn="l" rtl="0">
              <a:lnSpc>
                <a:spcPct val="10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100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Funcionalidades</a:t>
            </a:r>
            <a:r>
              <a:rPr lang="es-ES" sz="4100" dirty="0"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41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incluidas</a:t>
            </a:r>
            <a:endParaRPr sz="4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10915524" y="835305"/>
            <a:ext cx="6729600" cy="78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Herramientas simples y potentes diseñadas para llevar tu gestión al siguiente nivel.</a:t>
            </a:r>
            <a:endParaRPr sz="2400" dirty="0">
              <a:solidFill>
                <a:srgbClr val="152F72"/>
              </a:solidFill>
              <a:latin typeface="Figtree" pitchFamily="2" charset="0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1771481" y="2713860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>
                <a:solidFill>
                  <a:srgbClr val="152F72"/>
                </a:solidFill>
                <a:latin typeface="Figtree SemiBold" pitchFamily="2" charset="0"/>
                <a:ea typeface="Figtree"/>
                <a:cs typeface="Figtree"/>
                <a:sym typeface="Figtree"/>
              </a:rPr>
              <a:t>Gestión Centralizada</a:t>
            </a:r>
            <a:endParaRPr sz="2450">
              <a:solidFill>
                <a:srgbClr val="152F72"/>
              </a:solidFill>
              <a:latin typeface="Figtree SemiBold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06" name="Google Shape;106;p12"/>
          <p:cNvSpPr/>
          <p:nvPr/>
        </p:nvSpPr>
        <p:spPr>
          <a:xfrm>
            <a:off x="1839886" y="3212852"/>
            <a:ext cx="3052154" cy="45719"/>
          </a:xfrm>
          <a:prstGeom prst="rect">
            <a:avLst/>
          </a:prstGeom>
          <a:solidFill>
            <a:srgbClr val="9D7E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6270838" y="2694055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rgbClr val="152F72"/>
                </a:solidFill>
                <a:latin typeface="Figtree SemiBold" pitchFamily="2" charset="0"/>
                <a:ea typeface="Figtree"/>
                <a:cs typeface="Figtree"/>
                <a:sym typeface="Figtree"/>
              </a:rPr>
              <a:t>Procesos automatizados</a:t>
            </a:r>
            <a:endParaRPr sz="2450" dirty="0">
              <a:solidFill>
                <a:srgbClr val="152F72"/>
              </a:solidFill>
              <a:latin typeface="Figtree SemiBold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08" name="Google Shape;108;p12"/>
          <p:cNvSpPr/>
          <p:nvPr/>
        </p:nvSpPr>
        <p:spPr>
          <a:xfrm>
            <a:off x="6369723" y="3193048"/>
            <a:ext cx="3464700" cy="47926"/>
          </a:xfrm>
          <a:prstGeom prst="rect">
            <a:avLst/>
          </a:prstGeom>
          <a:solidFill>
            <a:srgbClr val="00D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10756873" y="2696275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>
                <a:solidFill>
                  <a:srgbClr val="152F72"/>
                </a:solidFill>
                <a:latin typeface="Figtree SemiBold" pitchFamily="2" charset="0"/>
                <a:ea typeface="Figtree"/>
                <a:cs typeface="Figtree"/>
                <a:sym typeface="Figtree"/>
              </a:rPr>
              <a:t>Comunicación y Equipo</a:t>
            </a:r>
            <a:endParaRPr sz="2450">
              <a:solidFill>
                <a:srgbClr val="152F72"/>
              </a:solidFill>
              <a:latin typeface="Figtree SemiBold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10825278" y="3195267"/>
            <a:ext cx="3464700" cy="45719"/>
          </a:xfrm>
          <a:prstGeom prst="rect">
            <a:avLst/>
          </a:prstGeom>
          <a:solidFill>
            <a:srgbClr val="379F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15144825" y="2713848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rgbClr val="152F72"/>
                </a:solidFill>
                <a:latin typeface="Figtree SemiBold" pitchFamily="2" charset="0"/>
                <a:ea typeface="Figtree"/>
                <a:cs typeface="Figtree"/>
                <a:sym typeface="Figtree"/>
              </a:rPr>
              <a:t>Desarrollo y Performance</a:t>
            </a:r>
            <a:endParaRPr sz="2450" dirty="0">
              <a:solidFill>
                <a:srgbClr val="152F72"/>
              </a:solidFill>
              <a:latin typeface="Figtree SemiBold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15244298" y="3195255"/>
            <a:ext cx="3614032" cy="45719"/>
          </a:xfrm>
          <a:prstGeom prst="rect">
            <a:avLst/>
          </a:prstGeom>
          <a:solidFill>
            <a:srgbClr val="FFCD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4" name="Google Shape;11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5" y="40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2"/>
          <p:cNvSpPr txBox="1"/>
          <p:nvPr/>
        </p:nvSpPr>
        <p:spPr>
          <a:xfrm>
            <a:off x="-27120" y="1019572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05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 rot="-5400000">
            <a:off x="-1058900" y="877750"/>
            <a:ext cx="2951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Funcionalidades</a:t>
            </a:r>
            <a:endParaRPr sz="220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272" y="3696367"/>
            <a:ext cx="16276302" cy="6034914"/>
          </a:xfrm>
          <a:prstGeom prst="rect">
            <a:avLst/>
          </a:prstGeom>
        </p:spPr>
      </p:pic>
      <p:sp>
        <p:nvSpPr>
          <p:cNvPr id="21" name="Google Shape;104;p12"/>
          <p:cNvSpPr txBox="1"/>
          <p:nvPr/>
        </p:nvSpPr>
        <p:spPr>
          <a:xfrm>
            <a:off x="2330539" y="10442194"/>
            <a:ext cx="6729600" cy="4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 smtClean="0">
                <a:solidFill>
                  <a:srgbClr val="152F72"/>
                </a:solidFill>
                <a:latin typeface="Figtree Medium" pitchFamily="2" charset="0"/>
                <a:ea typeface="Figtree Medium"/>
                <a:cs typeface="Figtree Medium"/>
                <a:sym typeface="Figtree Medium"/>
              </a:rPr>
              <a:t>Funcionalidad bonificada</a:t>
            </a:r>
            <a:endParaRPr sz="2200" dirty="0">
              <a:solidFill>
                <a:srgbClr val="152F72"/>
              </a:solidFill>
              <a:latin typeface="Figtree Medium" pitchFamily="2" charset="0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1854" y="4899308"/>
            <a:ext cx="346560" cy="352337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3718" y="3862657"/>
            <a:ext cx="346560" cy="352337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86" y="10470881"/>
            <a:ext cx="346560" cy="35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/>
          <p:nvPr/>
        </p:nvSpPr>
        <p:spPr>
          <a:xfrm>
            <a:off x="1903687" y="2072640"/>
            <a:ext cx="8060388" cy="8696860"/>
          </a:xfrm>
          <a:prstGeom prst="roundRect">
            <a:avLst>
              <a:gd name="adj" fmla="val 4639"/>
            </a:avLst>
          </a:prstGeom>
          <a:solidFill>
            <a:srgbClr val="EA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" name="Google Shape;122;p13"/>
          <p:cNvSpPr/>
          <p:nvPr/>
        </p:nvSpPr>
        <p:spPr>
          <a:xfrm>
            <a:off x="2061870" y="8448675"/>
            <a:ext cx="7744022" cy="2152989"/>
          </a:xfrm>
          <a:prstGeom prst="roundRect">
            <a:avLst>
              <a:gd name="adj" fmla="val 10244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" name="Google Shape;123;p13"/>
          <p:cNvSpPr/>
          <p:nvPr/>
        </p:nvSpPr>
        <p:spPr>
          <a:xfrm>
            <a:off x="10629468" y="2072640"/>
            <a:ext cx="8060388" cy="8696860"/>
          </a:xfrm>
          <a:prstGeom prst="roundRect">
            <a:avLst>
              <a:gd name="adj" fmla="val 4639"/>
            </a:avLst>
          </a:prstGeom>
          <a:solidFill>
            <a:srgbClr val="EA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1903687" y="762931"/>
            <a:ext cx="6425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8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Propuesta </a:t>
            </a:r>
            <a:r>
              <a:rPr lang="es-ES" sz="3800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3900" dirty="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3392150" y="814364"/>
            <a:ext cx="5235000" cy="448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800" b="1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Fecha: </a:t>
            </a:r>
            <a:r>
              <a:rPr lang="es-ES" sz="2800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15/10/25</a:t>
            </a:r>
            <a:endParaRPr sz="2800" dirty="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1"/>
          </p:nvPr>
        </p:nvSpPr>
        <p:spPr>
          <a:xfrm>
            <a:off x="2914790" y="4315422"/>
            <a:ext cx="60708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Cantidad de usuarios: 350  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2914761" y="5053999"/>
            <a:ext cx="60708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Almacenamiento disponible: 20 GB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/>
          </p:nvPr>
        </p:nvSpPr>
        <p:spPr>
          <a:xfrm>
            <a:off x="2441702" y="2496232"/>
            <a:ext cx="41475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9775" rIns="0" bIns="0" anchor="b" anchorCtr="0">
            <a:noAutofit/>
          </a:bodyPr>
          <a:lstStyle/>
          <a:p>
            <a:pPr marL="419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Licencia Software</a:t>
            </a:r>
            <a:endParaRPr sz="2700" dirty="0">
              <a:solidFill>
                <a:srgbClr val="152F72"/>
              </a:solidFill>
              <a:latin typeface="Figtree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2508494" y="8993123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Licencia: </a:t>
            </a:r>
            <a:r>
              <a:rPr lang="es-ES" sz="21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1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$154.000 + IVA </a:t>
            </a:r>
            <a:endParaRPr sz="2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13"/>
          <p:cNvSpPr txBox="1">
            <a:spLocks noGrp="1"/>
          </p:cNvSpPr>
          <p:nvPr>
            <p:ph type="body" idx="1"/>
          </p:nvPr>
        </p:nvSpPr>
        <p:spPr>
          <a:xfrm>
            <a:off x="2914801" y="3239580"/>
            <a:ext cx="68259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Sistema de gestión de RRHH con los módulos especificados.    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00" y="3523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00" y="460990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00" y="5266304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8750"/>
            <a:ext cx="817850" cy="1136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-24895" y="10193765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06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 rot="-5400000">
            <a:off x="-1116425" y="1021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Propuesta Naaloo</a:t>
            </a:r>
            <a:endParaRPr sz="2200" dirty="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11649228" y="4223990"/>
            <a:ext cx="64077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Creación de base de datos y parametrización de la plataforma.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1"/>
          </p:nvPr>
        </p:nvSpPr>
        <p:spPr>
          <a:xfrm>
            <a:off x="11649225" y="5372240"/>
            <a:ext cx="64077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Alta y notificación del personal con usuarios y claves.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/>
          </p:nvPr>
        </p:nvSpPr>
        <p:spPr>
          <a:xfrm>
            <a:off x="11204104" y="2458130"/>
            <a:ext cx="6401906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9775" rIns="0" bIns="0" anchor="b" anchorCtr="0">
            <a:noAutofit/>
          </a:bodyPr>
          <a:lstStyle/>
          <a:p>
            <a:pPr marL="41910" lvl="0"/>
            <a:r>
              <a:rPr lang="en-U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Onboarding </a:t>
            </a:r>
            <a:r>
              <a:rPr lang="en-US" sz="2700" dirty="0" err="1" smtClean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inmediato</a:t>
            </a:r>
            <a:r>
              <a:rPr lang="en-US" sz="2700" dirty="0" smtClean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 </a:t>
            </a:r>
            <a:r>
              <a:rPr lang="en-U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y </a:t>
            </a:r>
            <a:r>
              <a:rPr lang="en-US" sz="2700" dirty="0" err="1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Capacitación</a:t>
            </a:r>
            <a:endParaRPr sz="2700" dirty="0">
              <a:solidFill>
                <a:srgbClr val="152F72"/>
              </a:solidFill>
              <a:latin typeface="Figtree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1"/>
          </p:nvPr>
        </p:nvSpPr>
        <p:spPr>
          <a:xfrm>
            <a:off x="11649250" y="3239580"/>
            <a:ext cx="64257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Personalización del diseño en base a la identidad de la compañía.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4" name="Google Shape;14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1250" y="3535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1250" y="451846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1250" y="554676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/>
          <p:cNvSpPr txBox="1">
            <a:spLocks noGrp="1"/>
          </p:cNvSpPr>
          <p:nvPr>
            <p:ph type="body" idx="1"/>
          </p:nvPr>
        </p:nvSpPr>
        <p:spPr>
          <a:xfrm>
            <a:off x="11649200" y="6398365"/>
            <a:ext cx="694741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2 (dos) sesiones de capacitación en todas las funcionalidades de Naaloo para administradores.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8" name="Google Shape;14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1250" y="655410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3"/>
          <p:cNvSpPr txBox="1">
            <a:spLocks noGrp="1"/>
          </p:cNvSpPr>
          <p:nvPr>
            <p:ph type="body" idx="1"/>
          </p:nvPr>
        </p:nvSpPr>
        <p:spPr>
          <a:xfrm>
            <a:off x="2914750" y="5663355"/>
            <a:ext cx="68259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Gestión de Desempeño: </a:t>
            </a:r>
            <a:r>
              <a:rPr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50" name="Google Shape;15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00" y="605955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 txBox="1">
            <a:spLocks noGrp="1"/>
          </p:cNvSpPr>
          <p:nvPr>
            <p:ph type="body" idx="1"/>
          </p:nvPr>
        </p:nvSpPr>
        <p:spPr>
          <a:xfrm>
            <a:off x="2914801" y="6623630"/>
            <a:ext cx="60708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Reclutamiento: </a:t>
            </a:r>
            <a:r>
              <a:rPr lang="es-ES" sz="23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sz="23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52" name="Google Shape;15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00" y="6868879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0;p13">
            <a:extLst>
              <a:ext uri="{FF2B5EF4-FFF2-40B4-BE49-F238E27FC236}">
                <a16:creationId xmlns:a16="http://schemas.microsoft.com/office/drawing/2014/main" id="{A62EB8E7-D096-6CB2-486B-DAB70D0F5768}"/>
              </a:ext>
            </a:extLst>
          </p:cNvPr>
          <p:cNvSpPr txBox="1"/>
          <p:nvPr/>
        </p:nvSpPr>
        <p:spPr>
          <a:xfrm>
            <a:off x="5388257" y="9957969"/>
            <a:ext cx="4147500" cy="45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Recurso excedente: $</a:t>
            </a:r>
            <a:r>
              <a:rPr lang="es-ES" sz="1600" dirty="0" smtClean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2.400 + IVA</a:t>
            </a:r>
            <a:endParaRPr lang="es-ES" sz="1600" dirty="0">
              <a:solidFill>
                <a:srgbClr val="152F72"/>
              </a:solidFill>
              <a:latin typeface="Figtree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38" name="Google Shape;124;p13"/>
          <p:cNvSpPr/>
          <p:nvPr/>
        </p:nvSpPr>
        <p:spPr>
          <a:xfrm>
            <a:off x="15171228" y="9150339"/>
            <a:ext cx="3067200" cy="526532"/>
          </a:xfrm>
          <a:prstGeom prst="roundRect">
            <a:avLst>
              <a:gd name="adj" fmla="val 17480"/>
            </a:avLst>
          </a:prstGeom>
          <a:solidFill>
            <a:srgbClr val="F2FAF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147;p13"/>
          <p:cNvSpPr txBox="1">
            <a:spLocks noGrp="1"/>
          </p:cNvSpPr>
          <p:nvPr>
            <p:ph type="body" idx="1"/>
          </p:nvPr>
        </p:nvSpPr>
        <p:spPr>
          <a:xfrm>
            <a:off x="11684372" y="7567907"/>
            <a:ext cx="6407700" cy="31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/>
            <a:r>
              <a:rPr lang="es-MX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Soporte especial por WhatsApp por 30 días.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1" name="Google Shape;14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1250" y="7672379"/>
            <a:ext cx="233794" cy="241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ector recto 3"/>
          <p:cNvCxnSpPr/>
          <p:nvPr/>
        </p:nvCxnSpPr>
        <p:spPr>
          <a:xfrm flipV="1">
            <a:off x="4461926" y="9384096"/>
            <a:ext cx="1919743" cy="43631"/>
          </a:xfrm>
          <a:prstGeom prst="line">
            <a:avLst/>
          </a:prstGeom>
          <a:ln w="19050">
            <a:solidFill>
              <a:srgbClr val="3AA0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Google Shape;130;p13"/>
          <p:cNvSpPr txBox="1"/>
          <p:nvPr/>
        </p:nvSpPr>
        <p:spPr>
          <a:xfrm>
            <a:off x="6542521" y="9023009"/>
            <a:ext cx="2462090" cy="543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algn="ctr">
              <a:lnSpc>
                <a:spcPts val="2700"/>
              </a:lnSpc>
            </a:pPr>
            <a:r>
              <a:rPr lang="en-US" sz="21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$115.500 + IVA</a:t>
            </a:r>
            <a:endParaRPr sz="2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0" name="Google Shape;124;p13"/>
          <p:cNvSpPr/>
          <p:nvPr/>
        </p:nvSpPr>
        <p:spPr>
          <a:xfrm>
            <a:off x="3453558" y="8201026"/>
            <a:ext cx="4960646" cy="521455"/>
          </a:xfrm>
          <a:prstGeom prst="roundRect">
            <a:avLst>
              <a:gd name="adj" fmla="val 50000"/>
            </a:avLst>
          </a:prstGeom>
          <a:solidFill>
            <a:srgbClr val="3AA0F8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130;p13"/>
          <p:cNvSpPr txBox="1"/>
          <p:nvPr/>
        </p:nvSpPr>
        <p:spPr>
          <a:xfrm>
            <a:off x="3972142" y="8108769"/>
            <a:ext cx="3921966" cy="505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ctr"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 smtClean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Descuento de 25% por 3 meses</a:t>
            </a:r>
            <a:endParaRPr sz="2100" dirty="0">
              <a:solidFill>
                <a:schemeClr val="bg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" name="Google Shape;124;p13"/>
          <p:cNvSpPr/>
          <p:nvPr/>
        </p:nvSpPr>
        <p:spPr>
          <a:xfrm>
            <a:off x="6539852" y="9165778"/>
            <a:ext cx="2445709" cy="435199"/>
          </a:xfrm>
          <a:prstGeom prst="roundRect">
            <a:avLst>
              <a:gd name="adj" fmla="val 25772"/>
            </a:avLst>
          </a:prstGeom>
          <a:noFill/>
          <a:ln w="19050" cap="flat" cmpd="sng">
            <a:solidFill>
              <a:srgbClr val="3AA0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" name="Google Shape;130;p13"/>
          <p:cNvSpPr txBox="1"/>
          <p:nvPr/>
        </p:nvSpPr>
        <p:spPr>
          <a:xfrm>
            <a:off x="2504900" y="9568696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 smtClean="0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Frecuencia</a:t>
            </a:r>
            <a:r>
              <a:rPr lang="es-ES" sz="2100" b="1" dirty="0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: </a:t>
            </a:r>
            <a:r>
              <a:rPr lang="es-ES" sz="2100" b="1" dirty="0" smtClean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Mensual</a:t>
            </a:r>
            <a:endParaRPr sz="2100" b="1" dirty="0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122;p13"/>
          <p:cNvSpPr/>
          <p:nvPr/>
        </p:nvSpPr>
        <p:spPr>
          <a:xfrm>
            <a:off x="10787651" y="8800179"/>
            <a:ext cx="7744022" cy="1801485"/>
          </a:xfrm>
          <a:prstGeom prst="roundRect">
            <a:avLst>
              <a:gd name="adj" fmla="val 10244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" name="Google Shape;130;p13"/>
          <p:cNvSpPr txBox="1"/>
          <p:nvPr/>
        </p:nvSpPr>
        <p:spPr>
          <a:xfrm>
            <a:off x="11251229" y="9028678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total: </a:t>
            </a:r>
            <a:r>
              <a:rPr lang="es-ES" sz="21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</a:t>
            </a:r>
            <a:endParaRPr sz="2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2" name="Google Shape;130;p13"/>
          <p:cNvSpPr txBox="1"/>
          <p:nvPr/>
        </p:nvSpPr>
        <p:spPr>
          <a:xfrm>
            <a:off x="11279687" y="9565778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 smtClean="0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Frecuencia</a:t>
            </a:r>
            <a:r>
              <a:rPr lang="es-ES" sz="2100" b="1" dirty="0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: </a:t>
            </a:r>
            <a:r>
              <a:rPr lang="es-ES" sz="2100" b="1" dirty="0" smtClean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Única vez</a:t>
            </a:r>
            <a:endParaRPr sz="2100" b="1" dirty="0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388515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0" y="1996550"/>
            <a:ext cx="20125500" cy="93888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1799875" y="656700"/>
            <a:ext cx="101931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385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Especificaciones </a:t>
            </a:r>
            <a:r>
              <a:rPr lang="es-ES" sz="385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Propuesta Naaloo</a:t>
            </a:r>
            <a:endParaRPr sz="3850">
              <a:solidFill>
                <a:srgbClr val="152F72"/>
              </a:solidFill>
            </a:endParaRPr>
          </a:p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1799875" y="2778865"/>
            <a:ext cx="8117700" cy="81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Impuestos y moneda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Los valores presupuestados no incluyen IVA y la moneda de pago es pesos argentinos.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Factura inicial y activación de la cuenta 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Una vez aceptada la propuesta y recibida la información solicitada, el equipo de Administración procesará el alta y enviará la factura inicial correspondiente. La factura tiene una vigencia de 5 días hábiles para mantener las condiciones comerciales acordadas. Con el pago, comienza la activación de la cuenta: el equipo de Activación se contactará dentro de las 24 horas para coordinar la reunión de inicio y dar curso a la implementación. La implementación no tiene costo.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Facturación recurrente de la licencia mensual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 partir de la confirmación del cobro de la factura inicial, el servicio se considera activo y comienza el ciclo de facturación mensual y recurrente. El día 01 de cada mes recibirán por correo electrónico la factura correspondiente y deberá ser abonada sin excepciones. Condiciones de pago: 10 días ff. La mora se producirá de forma automática al día siguiente de cumplirse dicho plazo.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Condiciones de la propuesta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El plazo de validez de esta propuesta es de 15 días a partir de su emisión.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9067" y="727950"/>
            <a:ext cx="1636959" cy="47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7"/>
          <p:cNvGrpSpPr/>
          <p:nvPr/>
        </p:nvGrpSpPr>
        <p:grpSpPr>
          <a:xfrm>
            <a:off x="-24895" y="-159500"/>
            <a:ext cx="842746" cy="11474140"/>
            <a:chOff x="-24895" y="-159500"/>
            <a:chExt cx="842746" cy="11474140"/>
          </a:xfrm>
        </p:grpSpPr>
        <p:pic>
          <p:nvPicPr>
            <p:cNvPr id="163" name="Google Shape;163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5289"/>
              <a:ext cx="817851" cy="11309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7"/>
            <p:cNvSpPr txBox="1"/>
            <p:nvPr/>
          </p:nvSpPr>
          <p:spPr>
            <a:xfrm>
              <a:off x="-24895" y="10211350"/>
              <a:ext cx="817800" cy="94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rgbClr val="152F72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 07</a:t>
              </a:r>
              <a:endParaRPr b="0" i="0" sz="2000" u="none" cap="none" strike="noStrik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65" name="Google Shape;165;p7"/>
            <p:cNvSpPr txBox="1"/>
            <p:nvPr/>
          </p:nvSpPr>
          <p:spPr>
            <a:xfrm rot="-5400000">
              <a:off x="-1116425" y="1021450"/>
              <a:ext cx="3050700" cy="68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s-ES" sz="2200" u="none" cap="none" strike="noStrike">
                  <a:solidFill>
                    <a:srgbClr val="3AA0F8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Propuesta Naaloo</a:t>
              </a:r>
              <a:endParaRPr b="0" i="0" sz="2200" u="none" cap="none" strike="noStrik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66" name="Google Shape;166;p7"/>
          <p:cNvSpPr txBox="1"/>
          <p:nvPr>
            <p:ph idx="1" type="body"/>
          </p:nvPr>
        </p:nvSpPr>
        <p:spPr>
          <a:xfrm>
            <a:off x="10899600" y="2778875"/>
            <a:ext cx="8117700" cy="7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Descuentos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Por medio de pago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Obtén un 10% de descuento en tu presupuesto al adherirse al débito automático.</a:t>
            </a:r>
            <a:endParaRPr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Por pago anticipado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Si abonas de forma anticipada, obtendrás: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• 15% de descuento al pagar un año completo.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• 20% de descuento por dos años.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• 25% de descuento por tres años.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*No se ofrece reembolso si se decide dejar de usar la suscripción a Naaloo durante el Plazo de Suscripción.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Actualización de tarifas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Los valores se actualizarán trimestralmente en enero, abril, julio y octubre, según la variación del IPC publicado por el INDEC.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Actualización tecnológica (I+D)</a:t>
            </a:r>
            <a:endParaRPr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s-ES" sz="19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Naaloo incorpora nuevas funcionalidades, mejoras y actualizaciones de forma permanente, todas están incluidas en tu licencia y sin costo por módulo. Para sostener esa evolución, en Julio y Enero se cobrará de manera única un 5% sobre la licencia mensual, adicional a la actualización por IPC. </a:t>
            </a:r>
            <a:endParaRPr b="0" sz="19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 rot="10800000">
            <a:off x="457202" y="-401"/>
            <a:ext cx="19646898" cy="113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2477150" y="3635219"/>
            <a:ext cx="4515600" cy="202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925" rIns="0" bIns="0" anchor="t" anchorCtr="0">
            <a:spAutoFit/>
          </a:bodyPr>
          <a:lstStyle/>
          <a:p>
            <a:pPr marL="12700" marR="5080" lvl="0" indent="0" rtl="0">
              <a:lnSpc>
                <a:spcPts val="7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8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camino </a:t>
            </a:r>
            <a:r>
              <a:rPr lang="es-ES" sz="68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con </a:t>
            </a:r>
            <a:r>
              <a:rPr lang="es-ES" sz="6800" b="1" dirty="0" smtClean="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6800" dirty="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11"/>
          <p:cNvSpPr txBox="1"/>
          <p:nvPr/>
        </p:nvSpPr>
        <p:spPr>
          <a:xfrm>
            <a:off x="2477150" y="6110329"/>
            <a:ext cx="5048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7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Timeline de implementación</a:t>
            </a:r>
            <a:endParaRPr sz="37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5" y="-88500"/>
            <a:ext cx="817850" cy="1139824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>
            <a:off x="-27420" y="1018888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</a:t>
            </a:r>
            <a:r>
              <a:rPr lang="es-ES" sz="2000" dirty="0" smtClean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08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-1058900" y="888700"/>
            <a:ext cx="2951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Implementación</a:t>
            </a:r>
            <a:endParaRPr sz="2200" dirty="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5BA20F-3417-9C46-E5A6-A082D2017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516" y="-88500"/>
            <a:ext cx="13028948" cy="114867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>
            <a:spLocks noGrp="1"/>
          </p:cNvSpPr>
          <p:nvPr>
            <p:ph type="title"/>
          </p:nvPr>
        </p:nvSpPr>
        <p:spPr>
          <a:xfrm>
            <a:off x="1708772" y="1286350"/>
            <a:ext cx="82473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Te acompañamos en </a:t>
            </a:r>
            <a:r>
              <a:rPr lang="es-ES" sz="4000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cada paso</a:t>
            </a:r>
            <a:endParaRPr sz="4000" dirty="0">
              <a:solidFill>
                <a:srgbClr val="379DF6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58" name="Google Shape;15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9500"/>
            <a:ext cx="817850" cy="114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4"/>
          <p:cNvSpPr txBox="1"/>
          <p:nvPr/>
        </p:nvSpPr>
        <p:spPr>
          <a:xfrm>
            <a:off x="10275" y="10193765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 smtClean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09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 rot="-5400000">
            <a:off x="-1116425" y="308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Propuesta</a:t>
            </a:r>
            <a:endParaRPr sz="220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161" name="Google Shape;1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80917" y="1318500"/>
            <a:ext cx="1636959" cy="4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772" y="3437692"/>
            <a:ext cx="17509104" cy="6402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/>
          <p:nvPr/>
        </p:nvSpPr>
        <p:spPr>
          <a:xfrm>
            <a:off x="-50" y="-83250"/>
            <a:ext cx="20104200" cy="11468700"/>
          </a:xfrm>
          <a:prstGeom prst="rect">
            <a:avLst/>
          </a:prstGeom>
          <a:solidFill>
            <a:srgbClr val="E6F3FF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" name="Google Shape;189;p16"/>
          <p:cNvSpPr txBox="1">
            <a:spLocks noGrp="1"/>
          </p:cNvSpPr>
          <p:nvPr>
            <p:ph type="title"/>
          </p:nvPr>
        </p:nvSpPr>
        <p:spPr>
          <a:xfrm>
            <a:off x="1697576" y="1687750"/>
            <a:ext cx="8537400" cy="1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025" rIns="0" bIns="0" anchor="t" anchorCtr="0">
            <a:spAutoFit/>
          </a:bodyPr>
          <a:lstStyle/>
          <a:p>
            <a:pPr marL="12700" marR="5080" lvl="0" indent="0" algn="l" rtl="0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1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¡Sumarte tiene un </a:t>
            </a:r>
            <a:r>
              <a:rPr lang="es-ES" sz="4100" dirty="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impacto </a:t>
            </a:r>
            <a:endParaRPr sz="4100" dirty="0">
              <a:solidFill>
                <a:srgbClr val="379FF8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100" dirty="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positivo</a:t>
            </a:r>
            <a:r>
              <a:rPr lang="es-ES" sz="41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para el mundo!</a:t>
            </a:r>
            <a:endParaRPr sz="4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10770610" y="1792227"/>
            <a:ext cx="8505300" cy="15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152F72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Sabemos que no solo quieres mejorar a tu equipo, quieres cambiar el planeta y Naaloo lo lleva en su ADN. Por eso, cuando te unes a nuestra comunidad, estás haciendo mucho más que mejorar tu gestión. ¡Mira!</a:t>
            </a:r>
            <a:endParaRPr sz="2200" dirty="0">
              <a:solidFill>
                <a:srgbClr val="152F72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91" name="Google Shape;1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000" y="4073836"/>
            <a:ext cx="8575896" cy="647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00052" y="4073836"/>
            <a:ext cx="8575896" cy="647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41915"/>
            <a:ext cx="817850" cy="114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-35445" y="1021135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10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 rot="-5400000">
            <a:off x="-1116425" y="640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Bosque Naaloo</a:t>
            </a:r>
            <a:endParaRPr sz="2200" dirty="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196" name="Google Shape;19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73775" y="785100"/>
            <a:ext cx="1541925" cy="4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6" y="0"/>
            <a:ext cx="20105512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445" y="0"/>
            <a:ext cx="10322445" cy="11309350"/>
          </a:xfrm>
          <a:prstGeom prst="rect">
            <a:avLst/>
          </a:prstGeom>
        </p:spPr>
      </p:pic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2043215" y="976718"/>
            <a:ext cx="5169408" cy="962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4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experiencia es nuestra </a:t>
            </a:r>
            <a:r>
              <a:rPr lang="es-ES" sz="3400" dirty="0" smtClean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prioridad</a:t>
            </a:r>
            <a:endParaRPr sz="3400" dirty="0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11" name="Google Shape;2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81785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-35445" y="1021135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12</a:t>
            </a:r>
            <a:endParaRPr sz="200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 rot="-5400000">
            <a:off x="-1116425" y="1021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Nuestros clientes</a:t>
            </a:r>
            <a:endParaRPr sz="220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3" name="Google Shape;210;p18"/>
          <p:cNvSpPr txBox="1"/>
          <p:nvPr/>
        </p:nvSpPr>
        <p:spPr>
          <a:xfrm>
            <a:off x="11600168" y="995768"/>
            <a:ext cx="6116332" cy="96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lvl="0" indent="0" algn="l" defTabSz="828000" rtl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4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Nuestros </a:t>
            </a:r>
            <a:r>
              <a:rPr lang="es-ES" sz="34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usuarios </a:t>
            </a:r>
            <a:r>
              <a:rPr lang="es-ES" sz="34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recomiendan</a:t>
            </a:r>
            <a:r>
              <a:rPr lang="es-ES" sz="3400" b="1" dirty="0">
                <a:solidFill>
                  <a:srgbClr val="151515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34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3400" dirty="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876503" y="10552973"/>
            <a:ext cx="8134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rgbClr val="001F4E"/>
                </a:solidFill>
                <a:latin typeface="Figtree" pitchFamily="2" charset="0"/>
              </a:rPr>
              <a:t>Fuente: Encuesta anual de satisfacción </a:t>
            </a:r>
            <a:r>
              <a:rPr lang="es-MX" sz="1600" dirty="0" err="1">
                <a:solidFill>
                  <a:srgbClr val="001F4E"/>
                </a:solidFill>
                <a:latin typeface="Figtree" pitchFamily="2" charset="0"/>
              </a:rPr>
              <a:t>Naaloo</a:t>
            </a:r>
            <a:r>
              <a:rPr lang="es-MX" sz="1600" dirty="0">
                <a:solidFill>
                  <a:srgbClr val="001F4E"/>
                </a:solidFill>
                <a:latin typeface="Figtree" pitchFamily="2" charset="0"/>
              </a:rPr>
              <a:t> </a:t>
            </a:r>
            <a:r>
              <a:rPr lang="es-MX" sz="1600" dirty="0" smtClean="0">
                <a:solidFill>
                  <a:srgbClr val="001F4E"/>
                </a:solidFill>
                <a:latin typeface="Figtree" pitchFamily="2" charset="0"/>
              </a:rPr>
              <a:t>2025.</a:t>
            </a:r>
            <a:endParaRPr lang="en-US" sz="1600" dirty="0">
              <a:solidFill>
                <a:srgbClr val="001F4E"/>
              </a:solidFill>
              <a:latin typeface="Figtree" pitchFamily="2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875" y="2614124"/>
            <a:ext cx="2581462" cy="349680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059" y="2596539"/>
            <a:ext cx="2756303" cy="3825913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290" y="7045835"/>
            <a:ext cx="7522817" cy="267658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0168" y="6273991"/>
            <a:ext cx="7104002" cy="3905124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069" y="2492457"/>
            <a:ext cx="5703007" cy="27765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9158600" y="-112850"/>
            <a:ext cx="10945500" cy="11422200"/>
          </a:xfrm>
          <a:prstGeom prst="rect">
            <a:avLst/>
          </a:prstGeom>
          <a:solidFill>
            <a:srgbClr val="E6F3FF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2" name="Google Shape;222;p19"/>
          <p:cNvSpPr txBox="1">
            <a:spLocks noGrp="1"/>
          </p:cNvSpPr>
          <p:nvPr>
            <p:ph type="title"/>
          </p:nvPr>
        </p:nvSpPr>
        <p:spPr>
          <a:xfrm>
            <a:off x="1625775" y="2125300"/>
            <a:ext cx="6102600" cy="141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325" rIns="0" bIns="0" anchor="t" anchorCtr="0">
            <a:spAutoFit/>
          </a:bodyPr>
          <a:lstStyle/>
          <a:p>
            <a:pPr marL="12700" marR="5080" lvl="0" indent="0" algn="l" rtl="0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dirty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Desbloquea</a:t>
            </a:r>
            <a:r>
              <a:rPr lang="es-ES" sz="5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el siguiente nivel</a:t>
            </a:r>
            <a:endParaRPr sz="50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1632900" y="4040925"/>
            <a:ext cx="5821500" cy="28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975" rIns="0" bIns="0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Estamos listos para acompañarte en esta transformación. Solo necesitamos tu OK, y nuestro equipo se encargará de que la implementación sea simple y efectiva desde el primer día.</a:t>
            </a:r>
            <a:endParaRPr sz="26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1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26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25" name="Google Shape;2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725" y="7170148"/>
            <a:ext cx="2832500" cy="7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90075" y="-1553674"/>
            <a:ext cx="7820751" cy="1441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725" y="8766572"/>
            <a:ext cx="3543977" cy="6120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1515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4367</TotalTime>
  <Words>843</Words>
  <Application>Microsoft Office PowerPoint</Application>
  <PresentationFormat>Personalizado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Calibri</vt:lpstr>
      <vt:lpstr>Trebuchet MS</vt:lpstr>
      <vt:lpstr>Arial</vt:lpstr>
      <vt:lpstr>Figtree Medium</vt:lpstr>
      <vt:lpstr>Figtree SemiBold</vt:lpstr>
      <vt:lpstr>Figtree</vt:lpstr>
      <vt:lpstr>Office Theme</vt:lpstr>
      <vt:lpstr>Presentación de PowerPoint</vt:lpstr>
      <vt:lpstr>Presentación de PowerPoint</vt:lpstr>
      <vt:lpstr>Qué beneficios vamos a ofrecer</vt:lpstr>
      <vt:lpstr>¡Naaloo en números! Beneficios medibles</vt:lpstr>
      <vt:lpstr>Funcionalidades incluidas</vt:lpstr>
      <vt:lpstr>Propuesta Naaloo</vt:lpstr>
      <vt:lpstr>Especificaciones Propuesta Naaloo</vt:lpstr>
      <vt:lpstr>Presentación de PowerPoint</vt:lpstr>
      <vt:lpstr>Te acompañamos en cada paso</vt:lpstr>
      <vt:lpstr>¡Sumarte tiene un impacto  positivo para el mundo!</vt:lpstr>
      <vt:lpstr>Presentación de PowerPoint</vt:lpstr>
      <vt:lpstr>Tu experiencia es nuestra prioridad</vt:lpstr>
      <vt:lpstr>Desbloquea el siguiente nivel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78</cp:revision>
  <dcterms:modified xsi:type="dcterms:W3CDTF">2026-10-01T14:20:57Z</dcterms:modified>
</cp:coreProperties>
</file>