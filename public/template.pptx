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0104100" cy="11309350"/>
  <p:notesSz cx="20104100" cy="11309350"/>
  <p:embeddedFontLst>
    <p:embeddedFont>
      <p:font typeface="Figtree" panose="020B0604020202020204" charset="0"/>
      <p:regular r:id="rId16"/>
      <p:bold r:id="rId17"/>
      <p:italic r:id="rId18"/>
      <p:boldItalic r:id="rId19"/>
    </p:embeddedFont>
    <p:embeddedFont>
      <p:font typeface="Figtree Medium" panose="020B0604020202020204" charset="0"/>
      <p:regular r:id="rId20"/>
      <p:bold r:id="rId21"/>
      <p:italic r:id="rId22"/>
      <p:boldItalic r:id="rId23"/>
    </p:embeddedFont>
    <p:embeddedFont>
      <p:font typeface="Figtree SemiBold" panose="020B0604020202020204" charset="0"/>
      <p:regular r:id="rId24"/>
      <p:bold r:id="rId25"/>
      <p:italic r:id="rId26"/>
      <p:boldItalic r:id="rId27"/>
    </p:embeddedFont>
    <p:embeddedFont>
      <p:font typeface="Trebuchet MS" panose="020B060302020202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562">
          <p15:clr>
            <a:srgbClr val="A4A3A4"/>
          </p15:clr>
        </p15:guide>
        <p15:guide id="2" pos="649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h7MUxjA1KWE5j2aeZDgGbDRRTt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4FF502-B745-4B55-AFD8-85A377741BB9}" v="118" dt="2026-04-14T13:15:50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979" y="62"/>
      </p:cViewPr>
      <p:guideLst>
        <p:guide orient="horz" pos="3562"/>
        <p:guide pos="649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customschemas.google.com/relationships/presentationmetadata" Target="meta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x Bahia" userId="b9eb7c5d50d5078e" providerId="LiveId" clId="{2B4090DB-2CBC-4EEC-A76B-5D0411301F00}"/>
    <pc:docChg chg="undo redo custSel modSld">
      <pc:chgData name="xx Bahia" userId="b9eb7c5d50d5078e" providerId="LiveId" clId="{2B4090DB-2CBC-4EEC-A76B-5D0411301F00}" dt="2026-04-14T13:16:46.335" v="6197" actId="20577"/>
      <pc:docMkLst>
        <pc:docMk/>
      </pc:docMkLst>
      <pc:sldChg chg="modSp mod">
        <pc:chgData name="xx Bahia" userId="b9eb7c5d50d5078e" providerId="LiveId" clId="{2B4090DB-2CBC-4EEC-A76B-5D0411301F00}" dt="2026-04-14T13:15:50.777" v="6158"/>
        <pc:sldMkLst>
          <pc:docMk/>
          <pc:sldMk cId="0" sldId="256"/>
        </pc:sldMkLst>
        <pc:spChg chg="mod">
          <ac:chgData name="xx Bahia" userId="b9eb7c5d50d5078e" providerId="LiveId" clId="{2B4090DB-2CBC-4EEC-A76B-5D0411301F00}" dt="2026-04-14T13:15:50.777" v="6158"/>
          <ac:spMkLst>
            <pc:docMk/>
            <pc:sldMk cId="0" sldId="256"/>
            <ac:spMk id="43" creationId="{00000000-0000-0000-0000-000000000000}"/>
          </ac:spMkLst>
        </pc:spChg>
      </pc:sldChg>
      <pc:sldChg chg="addSp delSp modSp mod">
        <pc:chgData name="xx Bahia" userId="b9eb7c5d50d5078e" providerId="LiveId" clId="{2B4090DB-2CBC-4EEC-A76B-5D0411301F00}" dt="2026-04-14T13:16:46.335" v="6197" actId="20577"/>
        <pc:sldMkLst>
          <pc:docMk/>
          <pc:sldMk cId="0" sldId="261"/>
        </pc:sldMkLst>
        <pc:spChg chg="mod">
          <ac:chgData name="xx Bahia" userId="b9eb7c5d50d5078e" providerId="LiveId" clId="{2B4090DB-2CBC-4EEC-A76B-5D0411301F00}" dt="2026-03-17T20:10:52.586" v="3902" actId="1076"/>
          <ac:spMkLst>
            <pc:docMk/>
            <pc:sldMk cId="0" sldId="261"/>
            <ac:spMk id="114" creationId="{00000000-0000-0000-0000-000000000000}"/>
          </ac:spMkLst>
        </pc:spChg>
        <pc:spChg chg="mod">
          <ac:chgData name="xx Bahia" userId="b9eb7c5d50d5078e" providerId="LiveId" clId="{2B4090DB-2CBC-4EEC-A76B-5D0411301F00}" dt="2026-04-14T12:55:21.468" v="5993" actId="20577"/>
          <ac:spMkLst>
            <pc:docMk/>
            <pc:sldMk cId="0" sldId="261"/>
            <ac:spMk id="118" creationId="{00000000-0000-0000-0000-000000000000}"/>
          </ac:spMkLst>
        </pc:spChg>
        <pc:spChg chg="mod">
          <ac:chgData name="xx Bahia" userId="b9eb7c5d50d5078e" providerId="LiveId" clId="{2B4090DB-2CBC-4EEC-A76B-5D0411301F00}" dt="2026-04-14T13:16:05.925" v="6163" actId="20577"/>
          <ac:spMkLst>
            <pc:docMk/>
            <pc:sldMk cId="0" sldId="261"/>
            <ac:spMk id="119" creationId="{00000000-0000-0000-0000-000000000000}"/>
          </ac:spMkLst>
        </pc:spChg>
        <pc:spChg chg="mod">
          <ac:chgData name="xx Bahia" userId="b9eb7c5d50d5078e" providerId="LiveId" clId="{2B4090DB-2CBC-4EEC-A76B-5D0411301F00}" dt="2026-04-14T13:16:29.164" v="6183" actId="20577"/>
          <ac:spMkLst>
            <pc:docMk/>
            <pc:sldMk cId="0" sldId="261"/>
            <ac:spMk id="122" creationId="{00000000-0000-0000-0000-000000000000}"/>
          </ac:spMkLst>
        </pc:spChg>
        <pc:spChg chg="mod">
          <ac:chgData name="xx Bahia" userId="b9eb7c5d50d5078e" providerId="LiveId" clId="{2B4090DB-2CBC-4EEC-A76B-5D0411301F00}" dt="2026-04-08T14:55:00.941" v="5559" actId="20577"/>
          <ac:spMkLst>
            <pc:docMk/>
            <pc:sldMk cId="0" sldId="261"/>
            <ac:spMk id="141" creationId="{00000000-0000-0000-0000-000000000000}"/>
          </ac:spMkLst>
        </pc:spChg>
        <pc:spChg chg="mod">
          <ac:chgData name="xx Bahia" userId="b9eb7c5d50d5078e" providerId="LiveId" clId="{2B4090DB-2CBC-4EEC-A76B-5D0411301F00}" dt="2026-04-14T13:16:17.780" v="6169" actId="20577"/>
          <ac:spMkLst>
            <pc:docMk/>
            <pc:sldMk cId="0" sldId="261"/>
            <ac:spMk id="143" creationId="{00000000-0000-0000-0000-000000000000}"/>
          </ac:spMkLst>
        </pc:spChg>
        <pc:spChg chg="mod">
          <ac:chgData name="xx Bahia" userId="b9eb7c5d50d5078e" providerId="LiveId" clId="{2B4090DB-2CBC-4EEC-A76B-5D0411301F00}" dt="2026-04-14T13:16:46.335" v="6197" actId="20577"/>
          <ac:spMkLst>
            <pc:docMk/>
            <pc:sldMk cId="0" sldId="261"/>
            <ac:spMk id="148" creationId="{00000000-0000-0000-0000-000000000000}"/>
          </ac:spMkLst>
        </pc:spChg>
        <pc:spChg chg="mod">
          <ac:chgData name="xx Bahia" userId="b9eb7c5d50d5078e" providerId="LiveId" clId="{2B4090DB-2CBC-4EEC-A76B-5D0411301F00}" dt="2026-04-14T12:55:30.782" v="6002" actId="20577"/>
          <ac:spMkLst>
            <pc:docMk/>
            <pc:sldMk cId="0" sldId="261"/>
            <ac:spMk id="150" creationId="{00000000-0000-0000-0000-000000000000}"/>
          </ac:spMkLst>
        </pc:spChg>
        <pc:spChg chg="mod">
          <ac:chgData name="xx Bahia" userId="b9eb7c5d50d5078e" providerId="LiveId" clId="{2B4090DB-2CBC-4EEC-A76B-5D0411301F00}" dt="2026-04-08T17:54:55.466" v="5710" actId="20577"/>
          <ac:spMkLst>
            <pc:docMk/>
            <pc:sldMk cId="0" sldId="261"/>
            <ac:spMk id="15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" name="Google Shape;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7" name="Google Shape;2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2" name="Google Shape;2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150" b="1" i="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body" idx="1"/>
          </p:nvPr>
        </p:nvSpPr>
        <p:spPr>
          <a:xfrm>
            <a:off x="3364584" y="2557291"/>
            <a:ext cx="5529580" cy="630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3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>
            <a:spLocks noGrp="1"/>
          </p:cNvSpPr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150" b="1" i="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body" idx="1"/>
          </p:nvPr>
        </p:nvSpPr>
        <p:spPr>
          <a:xfrm>
            <a:off x="10306286" y="2044347"/>
            <a:ext cx="8131175" cy="2732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50" b="1" i="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150" b="1" i="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subTitle" idx="1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50" b="1" i="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150" b="1" i="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150" b="1" i="0" u="none" strike="noStrike" cap="none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10306286" y="2044347"/>
            <a:ext cx="8131175" cy="2732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50" b="1" i="0" u="none" strike="noStrike" cap="none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/>
        </p:nvSpPr>
        <p:spPr>
          <a:xfrm>
            <a:off x="5350345" y="7446138"/>
            <a:ext cx="9403410" cy="62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2700" marR="5080" algn="ctr">
              <a:lnSpc>
                <a:spcPct val="115000"/>
              </a:lnSpc>
              <a:buSzPts val="3500"/>
              <a:defRPr sz="3500">
                <a:solidFill>
                  <a:schemeClr val="lt1"/>
                </a:solidFill>
                <a:latin typeface="Figtree"/>
                <a:ea typeface="Figtree"/>
                <a:cs typeface="Figtree"/>
              </a:defRPr>
            </a:lvl1pPr>
          </a:lstStyle>
          <a:p>
            <a:r>
              <a:rPr lang="es-ES" dirty="0">
                <a:sym typeface="Figtree"/>
              </a:rPr>
              <a:t>Propuesta Comercial </a:t>
            </a:r>
            <a:r>
              <a:rPr lang="en-US" dirty="0" err="1">
                <a:sym typeface="Figtree"/>
              </a:rPr>
              <a:t>Luminitec</a:t>
            </a:r>
            <a:r>
              <a:rPr lang="en-US" dirty="0">
                <a:sym typeface="Figtree"/>
              </a:rPr>
              <a:t> SRL</a:t>
            </a:r>
            <a:endParaRPr dirty="0">
              <a:sym typeface="Figtre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5" y="-36113"/>
            <a:ext cx="817850" cy="11381576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 txBox="1"/>
          <p:nvPr/>
        </p:nvSpPr>
        <p:spPr>
          <a:xfrm>
            <a:off x="-30050" y="1019572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02</a:t>
            </a:r>
            <a:endParaRPr sz="2000" b="0" i="0" u="none" strike="noStrike" cap="non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0" name="Google Shape;50;p2"/>
          <p:cNvSpPr txBox="1"/>
          <p:nvPr/>
        </p:nvSpPr>
        <p:spPr>
          <a:xfrm rot="-5400000">
            <a:off x="-755900" y="824375"/>
            <a:ext cx="2345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 b="0" i="0" u="none" strike="noStrike" cap="non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Sobre Naaloo</a:t>
            </a:r>
            <a:endParaRPr sz="2200" b="0" i="0" u="none" strike="noStrike" cap="non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51" name="Google Shape;5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56026" y="1673304"/>
            <a:ext cx="16455889" cy="7962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8236350" y="0"/>
            <a:ext cx="11867700" cy="11309400"/>
          </a:xfrm>
          <a:prstGeom prst="rect">
            <a:avLst/>
          </a:prstGeom>
          <a:solidFill>
            <a:srgbClr val="E6F3FF">
              <a:alpha val="4078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1833903" y="1188967"/>
            <a:ext cx="4995521" cy="127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5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Qué </a:t>
            </a:r>
            <a:r>
              <a:rPr lang="es-ES" sz="450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beneficios </a:t>
            </a:r>
            <a:r>
              <a:rPr lang="es-ES" sz="45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vamos a ofrecer</a:t>
            </a:r>
            <a:endParaRPr sz="45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1833904" y="3033707"/>
            <a:ext cx="5548800" cy="1319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lang="es-ES" sz="285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Naaloo va a simplificar tu gestión con </a:t>
            </a:r>
            <a:r>
              <a:rPr lang="es-ES" sz="2850" b="1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menos carga laboral</a:t>
            </a:r>
            <a:r>
              <a:rPr lang="es-ES" sz="285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2850" b="1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y</a:t>
            </a:r>
            <a:r>
              <a:rPr lang="es-ES" sz="285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2850" b="1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mejores resultados.</a:t>
            </a:r>
            <a:endParaRPr sz="285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9290900" y="1180549"/>
            <a:ext cx="2630100" cy="2256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462280" lvl="0" indent="0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ES" sz="2300" b="1" i="0" u="none" strike="noStrike" cap="non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Ahorro de hasta 60% de tiempo</a:t>
            </a:r>
            <a:endParaRPr sz="2300" b="0" i="0" u="none" strike="noStrike" cap="non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ct val="133333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s-ES" sz="195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Reducción de horas y costos administrativos, automatizando tareas repetitivas.</a:t>
            </a:r>
            <a:endParaRPr sz="195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9290900" y="3947750"/>
            <a:ext cx="2640900" cy="21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9550" rIns="0" bIns="0" anchor="t" anchorCtr="0">
            <a:spAutoFit/>
          </a:bodyPr>
          <a:lstStyle/>
          <a:p>
            <a:pPr marL="12700" marR="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Mobile &amp; 24/7</a:t>
            </a:r>
            <a:endParaRPr sz="2400" b="0" i="0" u="none" strike="noStrike" cap="non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ct val="133333"/>
              </a:lnSpc>
              <a:spcBef>
                <a:spcPts val="142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s-ES" sz="195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Gestionable desde cualquier computadora o celular con Internet, las 24 hs.</a:t>
            </a:r>
            <a:endParaRPr sz="195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12687450" y="1189275"/>
            <a:ext cx="2851800" cy="2269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112395" lvl="0" indent="0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ES" sz="2300" b="1" i="0" u="none" strike="noStrike" cap="non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Comunicaciones simples y unificadas</a:t>
            </a:r>
            <a:endParaRPr sz="2300" b="0" i="0" u="none" strike="noStrike" cap="non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ct val="133333"/>
              </a:lnSpc>
              <a:spcBef>
                <a:spcPts val="121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s-ES" sz="195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Contacta a todos los colaboradores en tiempo real, con datos de lectura y entendimiento.</a:t>
            </a:r>
            <a:endParaRPr sz="195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16303650" y="1189275"/>
            <a:ext cx="2235900" cy="2282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64515" lvl="0" indent="0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ES" sz="2300" b="1" i="0" u="none" strike="noStrike" cap="non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Gestión centralizada</a:t>
            </a:r>
            <a:endParaRPr sz="2300" b="0" i="0" u="none" strike="noStrike" cap="non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ct val="133333"/>
              </a:lnSpc>
              <a:spcBef>
                <a:spcPts val="133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s-ES" sz="195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Toda la información e interacciones con tus equipos, en un solo lugar.</a:t>
            </a:r>
            <a:endParaRPr sz="195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12687450" y="3999150"/>
            <a:ext cx="2865900" cy="255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 indent="0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ES" sz="2300" b="1" i="0" u="none" strike="noStrike" cap="non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Menos tareas, menos papel</a:t>
            </a:r>
            <a:endParaRPr sz="2300" b="0" i="0" u="none" strike="noStrike" cap="non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17780" lvl="0" indent="0" algn="l" rtl="0">
              <a:lnSpc>
                <a:spcPct val="133333"/>
              </a:lnSpc>
              <a:spcBef>
                <a:spcPts val="74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s-ES" sz="195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Automatización y digitalización de firma de recibos (y de cualquier documento) con validez legal.</a:t>
            </a:r>
            <a:endParaRPr sz="195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16303650" y="3796698"/>
            <a:ext cx="2550000" cy="24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900" rIns="0" bIns="0" anchor="t" anchorCtr="0">
            <a:spAutoFit/>
          </a:bodyPr>
          <a:lstStyle/>
          <a:p>
            <a:pPr marL="12700" marR="0" lvl="0" indent="0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ES" sz="2300" b="1" i="0" u="none" strike="noStrike" cap="non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Home Office</a:t>
            </a:r>
            <a:endParaRPr sz="2300" b="0" i="0" u="none" strike="noStrike" cap="non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ct val="133333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s-ES" sz="195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Gestiona el trabajo remoto en el acto con fichaje, gestión de entregas y todo lo que necesitas.</a:t>
            </a:r>
            <a:endParaRPr sz="195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9295950" y="7182525"/>
            <a:ext cx="2905200" cy="287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883285" lvl="0" indent="0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ES" sz="2300" b="1" i="0" u="none" strike="noStrike" cap="non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Workflows automatizados</a:t>
            </a:r>
            <a:endParaRPr sz="2300" b="0" i="0" u="none" strike="noStrike" cap="non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411480" lvl="0" indent="0" algn="l" rtl="0">
              <a:lnSpc>
                <a:spcPct val="133333"/>
              </a:lnSpc>
              <a:spcBef>
                <a:spcPts val="119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s-ES" sz="195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Optimiza y agiliza la solicitud y aprobación</a:t>
            </a:r>
            <a:endParaRPr sz="195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s-ES" sz="195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de ausencias, vacaciones,</a:t>
            </a:r>
            <a:endParaRPr sz="195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248920" lvl="0" indent="0" algn="just" rtl="0">
              <a:lnSpc>
                <a:spcPct val="133333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s-ES" sz="195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entregas de equipos de trabajo, capacitaciones y más.</a:t>
            </a:r>
            <a:endParaRPr sz="195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16303650" y="7198201"/>
            <a:ext cx="2759100" cy="23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130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ES" sz="2300" b="1" i="0" u="none" strike="noStrike" cap="non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Siempre actualizada</a:t>
            </a:r>
            <a:endParaRPr sz="2300" b="0" i="0" u="none" strike="noStrike" cap="non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34925" lvl="0" indent="0" algn="l" rtl="0">
              <a:lnSpc>
                <a:spcPct val="133333"/>
              </a:lnSpc>
              <a:spcBef>
                <a:spcPts val="175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s-ES" sz="195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Mejora continua de herramientas y funcionalidades en base a la experiencia de los usuarios, sin costo.</a:t>
            </a:r>
            <a:endParaRPr sz="195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12655991" y="7074224"/>
            <a:ext cx="2717100" cy="14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9550" rIns="0" bIns="0" anchor="t" anchorCtr="0">
            <a:spAutoFit/>
          </a:bodyPr>
          <a:lstStyle/>
          <a:p>
            <a:pPr marL="12700" marR="0" lvl="0" indent="0" algn="l" rtl="0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Simple y rápida</a:t>
            </a:r>
            <a:endParaRPr sz="2400" b="0" i="0" u="none" strike="noStrike" cap="non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ct val="133333"/>
              </a:lnSpc>
              <a:spcBef>
                <a:spcPts val="142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s-ES" sz="195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Implementación veloz y aprendizaje intuitivo.</a:t>
            </a:r>
            <a:endParaRPr sz="195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68" name="Google Shape;6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5" y="404"/>
            <a:ext cx="817851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 txBox="1"/>
          <p:nvPr/>
        </p:nvSpPr>
        <p:spPr>
          <a:xfrm>
            <a:off x="-27120" y="1018888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03</a:t>
            </a:r>
            <a:endParaRPr sz="2000" b="0" i="0" u="none" strike="noStrike" cap="non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70" name="Google Shape;70;p3"/>
          <p:cNvSpPr txBox="1"/>
          <p:nvPr/>
        </p:nvSpPr>
        <p:spPr>
          <a:xfrm rot="-5400000">
            <a:off x="-755900" y="443375"/>
            <a:ext cx="2345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 b="0" i="0" u="none" strike="noStrike" cap="non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Beneficios</a:t>
            </a:r>
            <a:endParaRPr sz="2200" b="0" i="0" u="none" strike="noStrike" cap="non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1461" y="5273919"/>
            <a:ext cx="6161140" cy="3670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18758" y="6946674"/>
            <a:ext cx="5680411" cy="560364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6829425" y="9710738"/>
            <a:ext cx="1181100" cy="13335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6810375" y="9716262"/>
            <a:ext cx="126669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00" b="0" i="0" u="none" strike="noStrike" cap="none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Nuevo reconocimiento enviado</a:t>
            </a:r>
            <a:endParaRPr sz="600" b="0" i="0" u="none" strike="noStrike" cap="non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4"/>
          <p:cNvPicPr preferRelativeResize="0"/>
          <p:nvPr/>
        </p:nvPicPr>
        <p:blipFill rotWithShape="1">
          <a:blip r:embed="rId3">
            <a:alphaModFix amt="74000"/>
          </a:blip>
          <a:srcRect/>
          <a:stretch/>
        </p:blipFill>
        <p:spPr>
          <a:xfrm>
            <a:off x="0" y="0"/>
            <a:ext cx="20104100" cy="36353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 txBox="1">
            <a:spLocks noGrp="1"/>
          </p:cNvSpPr>
          <p:nvPr>
            <p:ph type="title"/>
          </p:nvPr>
        </p:nvSpPr>
        <p:spPr>
          <a:xfrm>
            <a:off x="1846600" y="773350"/>
            <a:ext cx="6533700" cy="134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025" rIns="0" bIns="0" anchor="t" anchorCtr="0">
            <a:spAutoFit/>
          </a:bodyPr>
          <a:lstStyle/>
          <a:p>
            <a:pPr marL="12700" marR="5080" lvl="0" indent="0" algn="l" rtl="0">
              <a:lnSpc>
                <a:spcPct val="114634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10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¡Naaloo </a:t>
            </a:r>
            <a:r>
              <a:rPr lang="es-ES" sz="41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en números! Beneficios medibles</a:t>
            </a:r>
            <a:endParaRPr sz="41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1" name="Google Shape;81;p4"/>
          <p:cNvSpPr txBox="1"/>
          <p:nvPr/>
        </p:nvSpPr>
        <p:spPr>
          <a:xfrm>
            <a:off x="10707100" y="936410"/>
            <a:ext cx="7697400" cy="832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 indent="0" algn="l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Recupera tu inversión en tiempo récord y acelera </a:t>
            </a:r>
            <a:br>
              <a:rPr lang="es-ES" sz="240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</a:br>
            <a:r>
              <a:rPr lang="es-ES" sz="240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tu crecimiento desde el día uno.</a:t>
            </a:r>
            <a:endParaRPr/>
          </a:p>
        </p:txBody>
      </p:sp>
      <p:pic>
        <p:nvPicPr>
          <p:cNvPr id="82" name="Google Shape;8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"/>
            <a:ext cx="817851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 txBox="1"/>
          <p:nvPr/>
        </p:nvSpPr>
        <p:spPr>
          <a:xfrm>
            <a:off x="-17560" y="1020100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04</a:t>
            </a:r>
            <a:endParaRPr sz="2000" b="0" i="0" u="none" strike="noStrike" cap="non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84" name="Google Shape;84;p4"/>
          <p:cNvSpPr txBox="1"/>
          <p:nvPr/>
        </p:nvSpPr>
        <p:spPr>
          <a:xfrm rot="-5400000">
            <a:off x="-700325" y="503925"/>
            <a:ext cx="22185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 b="0" i="0" u="none" strike="noStrike" cap="non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Beneficios</a:t>
            </a:r>
            <a:endParaRPr sz="2200" b="0" i="0" u="none" strike="noStrike" cap="non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694200" y="2959826"/>
            <a:ext cx="17581824" cy="67512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Google Shape;86;p4"/>
          <p:cNvSpPr txBox="1"/>
          <p:nvPr/>
        </p:nvSpPr>
        <p:spPr>
          <a:xfrm>
            <a:off x="1694200" y="10417214"/>
            <a:ext cx="7697400" cy="4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Fuente: </a:t>
            </a:r>
            <a:r>
              <a:rPr lang="es-ES" sz="200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Resultados de usuarios de Naaloo 2025.</a:t>
            </a:r>
            <a:endParaRPr sz="200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5"/>
          <p:cNvPicPr preferRelativeResize="0"/>
          <p:nvPr/>
        </p:nvPicPr>
        <p:blipFill rotWithShape="1">
          <a:blip r:embed="rId3">
            <a:alphaModFix amt="74000"/>
          </a:blip>
          <a:srcRect/>
          <a:stretch/>
        </p:blipFill>
        <p:spPr>
          <a:xfrm>
            <a:off x="0" y="0"/>
            <a:ext cx="20104100" cy="425569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>
            <a:spLocks noGrp="1"/>
          </p:cNvSpPr>
          <p:nvPr>
            <p:ph type="title"/>
          </p:nvPr>
        </p:nvSpPr>
        <p:spPr>
          <a:xfrm>
            <a:off x="1846598" y="773357"/>
            <a:ext cx="81750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025" rIns="0" bIns="0" anchor="t" anchorCtr="0">
            <a:spAutoFit/>
          </a:bodyPr>
          <a:lstStyle/>
          <a:p>
            <a:pPr marL="12700" marR="5080" lvl="0" indent="0" algn="l" rtl="0">
              <a:lnSpc>
                <a:spcPct val="10391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10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Funcionalidades</a:t>
            </a:r>
            <a:r>
              <a:rPr lang="es-ES" sz="4100"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41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incluidas</a:t>
            </a:r>
            <a:endParaRPr sz="41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10915524" y="835305"/>
            <a:ext cx="6729600" cy="78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 indent="0" algn="l" rtl="0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Herramientas simples y potentes diseñadas para llevar tu gestión al siguiente nivel.</a:t>
            </a:r>
            <a:endParaRPr sz="240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1771481" y="2713860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lang="es-ES" sz="2450" b="0" i="0" u="none" strike="noStrike" cap="non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Gestión Centralizada</a:t>
            </a:r>
            <a:endParaRPr sz="2450" b="0" i="0" u="none" strike="noStrike" cap="non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839886" y="3212852"/>
            <a:ext cx="3052154" cy="45719"/>
          </a:xfrm>
          <a:prstGeom prst="rect">
            <a:avLst/>
          </a:prstGeom>
          <a:solidFill>
            <a:srgbClr val="9D7E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6270838" y="2694055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lang="es-ES" sz="2450" b="0" i="0" u="none" strike="noStrike" cap="non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Procesos automatizados</a:t>
            </a:r>
            <a:endParaRPr sz="2450" b="0" i="0" u="none" strike="noStrike" cap="non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369723" y="3193048"/>
            <a:ext cx="3464700" cy="47926"/>
          </a:xfrm>
          <a:prstGeom prst="rect">
            <a:avLst/>
          </a:prstGeom>
          <a:solidFill>
            <a:srgbClr val="00D0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10756873" y="2696275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lang="es-ES" sz="2450" b="0" i="0" u="none" strike="noStrike" cap="non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Comunicación y Equipo</a:t>
            </a:r>
            <a:endParaRPr sz="2450" b="0" i="0" u="none" strike="noStrike" cap="non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0825278" y="3195267"/>
            <a:ext cx="3464700" cy="45719"/>
          </a:xfrm>
          <a:prstGeom prst="rect">
            <a:avLst/>
          </a:prstGeom>
          <a:solidFill>
            <a:srgbClr val="379F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15144825" y="2713848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lang="es-ES" sz="2450" b="0" i="0" u="none" strike="noStrike" cap="non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Desarrollo y Performance</a:t>
            </a:r>
            <a:endParaRPr sz="2450" b="0" i="0" u="none" strike="noStrike" cap="non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5244298" y="3195255"/>
            <a:ext cx="3614032" cy="45719"/>
          </a:xfrm>
          <a:prstGeom prst="rect">
            <a:avLst/>
          </a:prstGeom>
          <a:solidFill>
            <a:srgbClr val="FFCD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2" name="Google Shape;10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5" y="404"/>
            <a:ext cx="817851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 txBox="1"/>
          <p:nvPr/>
        </p:nvSpPr>
        <p:spPr>
          <a:xfrm>
            <a:off x="-27120" y="1019572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05</a:t>
            </a:r>
            <a:endParaRPr sz="2000" b="0" i="0" u="none" strike="noStrike" cap="non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04" name="Google Shape;104;p5"/>
          <p:cNvSpPr txBox="1"/>
          <p:nvPr/>
        </p:nvSpPr>
        <p:spPr>
          <a:xfrm rot="-5400000">
            <a:off x="-1058900" y="877750"/>
            <a:ext cx="2951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 b="0" i="0" u="none" strike="noStrike" cap="non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Funcionalidades</a:t>
            </a:r>
            <a:endParaRPr sz="2200" b="0" i="0" u="none" strike="noStrike" cap="non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105" name="Google Shape;105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96272" y="3696367"/>
            <a:ext cx="16276302" cy="603491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 txBox="1"/>
          <p:nvPr/>
        </p:nvSpPr>
        <p:spPr>
          <a:xfrm>
            <a:off x="2330539" y="10442194"/>
            <a:ext cx="6729600" cy="4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 indent="0" algn="l" rtl="0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 b="0" i="0" u="none" strike="noStrike" cap="none">
                <a:solidFill>
                  <a:srgbClr val="152F72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Funcionalidad bonificada</a:t>
            </a:r>
            <a:endParaRPr sz="2200" b="0" i="0" u="none" strike="noStrike" cap="none">
              <a:solidFill>
                <a:srgbClr val="152F72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07" name="Google Shape;107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81854" y="4899308"/>
            <a:ext cx="346560" cy="35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743718" y="3862657"/>
            <a:ext cx="346560" cy="35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39886" y="10470881"/>
            <a:ext cx="346560" cy="35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1903687" y="2021740"/>
            <a:ext cx="8060388" cy="8696860"/>
          </a:xfrm>
          <a:prstGeom prst="roundRect">
            <a:avLst>
              <a:gd name="adj" fmla="val 4639"/>
            </a:avLst>
          </a:prstGeom>
          <a:solidFill>
            <a:srgbClr val="EA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2061870" y="8448675"/>
            <a:ext cx="7744022" cy="2152989"/>
          </a:xfrm>
          <a:prstGeom prst="roundRect">
            <a:avLst>
              <a:gd name="adj" fmla="val 1024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0629468" y="2072640"/>
            <a:ext cx="8060388" cy="8696860"/>
          </a:xfrm>
          <a:prstGeom prst="roundRect">
            <a:avLst>
              <a:gd name="adj" fmla="val 4639"/>
            </a:avLst>
          </a:prstGeom>
          <a:solidFill>
            <a:srgbClr val="EA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" name="Google Shape;117;p6"/>
          <p:cNvSpPr txBox="1">
            <a:spLocks noGrp="1"/>
          </p:cNvSpPr>
          <p:nvPr>
            <p:ph type="title"/>
          </p:nvPr>
        </p:nvSpPr>
        <p:spPr>
          <a:xfrm>
            <a:off x="1903687" y="762931"/>
            <a:ext cx="6425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38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Propuesta </a:t>
            </a:r>
            <a:r>
              <a:rPr lang="es-ES" sz="380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Naaloo</a:t>
            </a:r>
            <a:endParaRPr sz="39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13392150" y="814364"/>
            <a:ext cx="5235000" cy="448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800" b="0" i="0" u="none" strike="noStrike" cap="none" dirty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2800" b="1" i="0" u="none" strike="noStrike" cap="none" dirty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Fecha: </a:t>
            </a:r>
            <a:r>
              <a:rPr lang="ie-Latn-001" sz="2800" b="1" i="0" u="none" strike="noStrike" cap="none" dirty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14</a:t>
            </a:r>
            <a:r>
              <a:rPr lang="ie-Latn-001" sz="2800" b="1" dirty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/</a:t>
            </a:r>
            <a:r>
              <a:rPr lang="ie-Latn-001" sz="2800" b="0" i="0" u="none" strike="noStrike" cap="none" dirty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04</a:t>
            </a:r>
            <a:r>
              <a:rPr lang="es-ES" sz="2800" b="0" i="0" u="none" strike="noStrike" cap="none" dirty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/2</a:t>
            </a:r>
            <a:r>
              <a:rPr lang="ie-Latn-001" sz="2800" b="0" i="0" u="none" strike="noStrike" cap="none" dirty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6</a:t>
            </a:r>
            <a:endParaRPr sz="2800" b="0" i="0" u="none" strike="noStrike" cap="none" dirty="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9" name="Google Shape;119;p6"/>
          <p:cNvSpPr txBox="1">
            <a:spLocks noGrp="1"/>
          </p:cNvSpPr>
          <p:nvPr>
            <p:ph type="body" idx="1"/>
          </p:nvPr>
        </p:nvSpPr>
        <p:spPr>
          <a:xfrm>
            <a:off x="2914790" y="4315422"/>
            <a:ext cx="6070800" cy="590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1400"/>
              <a:buNone/>
            </a:pPr>
            <a:r>
              <a:rPr lang="es-ES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Cantidad de usuarios:</a:t>
            </a:r>
            <a:r>
              <a:rPr lang="ie-Latn-001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212</a:t>
            </a:r>
            <a:endParaRPr sz="23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0" name="Google Shape;120;p6"/>
          <p:cNvSpPr txBox="1">
            <a:spLocks noGrp="1"/>
          </p:cNvSpPr>
          <p:nvPr>
            <p:ph type="body" idx="1"/>
          </p:nvPr>
        </p:nvSpPr>
        <p:spPr>
          <a:xfrm>
            <a:off x="2914761" y="5053999"/>
            <a:ext cx="60708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Almacenamiento disponible: 20 GB</a:t>
            </a:r>
            <a:endParaRPr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1" name="Google Shape;121;p6"/>
          <p:cNvSpPr txBox="1">
            <a:spLocks noGrp="1"/>
          </p:cNvSpPr>
          <p:nvPr>
            <p:ph type="title"/>
          </p:nvPr>
        </p:nvSpPr>
        <p:spPr>
          <a:xfrm>
            <a:off x="2441702" y="2496232"/>
            <a:ext cx="41475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9775" rIns="0" bIns="0" anchor="b" anchorCtr="0">
            <a:noAutofit/>
          </a:bodyPr>
          <a:lstStyle/>
          <a:p>
            <a:pPr marL="4191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27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Licencia Software</a:t>
            </a:r>
            <a:endParaRPr sz="27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2508494" y="8993123"/>
            <a:ext cx="4147500" cy="688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marR="0" lvl="0" indent="0" algn="l" rtl="0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1" i="0" u="none" strike="noStrike" cap="none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Valor Licencia:  </a:t>
            </a:r>
            <a:r>
              <a:rPr lang="es-ES" sz="2100" b="0" i="0" u="none" strike="noStrike" cap="none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$</a:t>
            </a:r>
            <a:r>
              <a:rPr lang="ie-Latn-001" sz="2100" b="0" i="0" u="none" strike="noStrike" cap="none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464.280</a:t>
            </a:r>
            <a:r>
              <a:rPr lang="es-ES" sz="2100" b="0" i="0" u="none" strike="noStrike" cap="none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+ IVA </a:t>
            </a:r>
            <a:endParaRPr sz="2100" b="0" i="0" u="none" strike="noStrike" cap="none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3" name="Google Shape;123;p6"/>
          <p:cNvSpPr txBox="1">
            <a:spLocks noGrp="1"/>
          </p:cNvSpPr>
          <p:nvPr>
            <p:ph type="body" idx="1"/>
          </p:nvPr>
        </p:nvSpPr>
        <p:spPr>
          <a:xfrm>
            <a:off x="2914801" y="3239580"/>
            <a:ext cx="68259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Sistema de gestión de RRHH con los módulos especificados.    </a:t>
            </a:r>
            <a:endParaRPr sz="2300" b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24" name="Google Shape;12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6800" y="3523876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6800" y="4609902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6800" y="5266304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28750"/>
            <a:ext cx="817850" cy="1136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 txBox="1"/>
          <p:nvPr/>
        </p:nvSpPr>
        <p:spPr>
          <a:xfrm>
            <a:off x="-24895" y="10193765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06</a:t>
            </a:r>
            <a:endParaRPr sz="2000" b="0" i="0" u="none" strike="noStrike" cap="non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29" name="Google Shape;129;p6"/>
          <p:cNvSpPr txBox="1"/>
          <p:nvPr/>
        </p:nvSpPr>
        <p:spPr>
          <a:xfrm rot="-5400000">
            <a:off x="-1116425" y="10214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 b="0" i="0" u="none" strike="noStrike" cap="non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Propuesta Naaloo</a:t>
            </a:r>
            <a:endParaRPr sz="2200" b="0" i="0" u="none" strike="noStrike" cap="non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30" name="Google Shape;130;p6"/>
          <p:cNvSpPr txBox="1">
            <a:spLocks noGrp="1"/>
          </p:cNvSpPr>
          <p:nvPr>
            <p:ph type="body" idx="1"/>
          </p:nvPr>
        </p:nvSpPr>
        <p:spPr>
          <a:xfrm>
            <a:off x="11649228" y="4223990"/>
            <a:ext cx="64077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1400"/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Creación de base de datos y parametrización de la plataforma.</a:t>
            </a:r>
            <a:endParaRPr sz="2300" b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11649225" y="5372240"/>
            <a:ext cx="6407700" cy="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Alta y notificación del personal con usuarios y claves.</a:t>
            </a:r>
            <a:endParaRPr sz="2300" b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2" name="Google Shape;132;p6"/>
          <p:cNvSpPr txBox="1">
            <a:spLocks noGrp="1"/>
          </p:cNvSpPr>
          <p:nvPr>
            <p:ph type="title"/>
          </p:nvPr>
        </p:nvSpPr>
        <p:spPr>
          <a:xfrm>
            <a:off x="11204104" y="2458130"/>
            <a:ext cx="6401906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9775" rIns="0" bIns="0" anchor="b" anchorCtr="0">
            <a:noAutofit/>
          </a:bodyPr>
          <a:lstStyle/>
          <a:p>
            <a:pPr marL="4191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27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Onboarding inmediato y Capacitación</a:t>
            </a:r>
            <a:endParaRPr sz="27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3" name="Google Shape;133;p6"/>
          <p:cNvSpPr txBox="1">
            <a:spLocks noGrp="1"/>
          </p:cNvSpPr>
          <p:nvPr>
            <p:ph type="body" idx="1"/>
          </p:nvPr>
        </p:nvSpPr>
        <p:spPr>
          <a:xfrm>
            <a:off x="11649250" y="3239580"/>
            <a:ext cx="64257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1400"/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Personalización del diseño en base a la identidad de la compañía.</a:t>
            </a:r>
            <a:endParaRPr sz="2300" b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01250" y="3535876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01250" y="4518462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01250" y="5546764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 txBox="1">
            <a:spLocks noGrp="1"/>
          </p:cNvSpPr>
          <p:nvPr>
            <p:ph type="body" idx="1"/>
          </p:nvPr>
        </p:nvSpPr>
        <p:spPr>
          <a:xfrm>
            <a:off x="11649200" y="6398365"/>
            <a:ext cx="694741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2 (dos) sesiones de capacitación en todas las funcionalidades de Naaloo para administradores.</a:t>
            </a:r>
            <a:endParaRPr sz="2300" b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300" b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38" name="Google Shape;13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01250" y="6554104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>
            <a:spLocks noGrp="1"/>
          </p:cNvSpPr>
          <p:nvPr>
            <p:ph type="body" idx="1"/>
          </p:nvPr>
        </p:nvSpPr>
        <p:spPr>
          <a:xfrm>
            <a:off x="2914750" y="5663355"/>
            <a:ext cx="68259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Módulo de Gestión de Desempeño: </a:t>
            </a:r>
            <a:r>
              <a:rPr lang="es-ES" sz="23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Bonificado.</a:t>
            </a:r>
            <a:endParaRPr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40" name="Google Shape;14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6800" y="6059554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 txBox="1">
            <a:spLocks noGrp="1"/>
          </p:cNvSpPr>
          <p:nvPr>
            <p:ph type="body" idx="1"/>
          </p:nvPr>
        </p:nvSpPr>
        <p:spPr>
          <a:xfrm>
            <a:off x="2914801" y="6623630"/>
            <a:ext cx="60708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Módulo de Reclutamiento: </a:t>
            </a:r>
            <a:r>
              <a:rPr lang="es-ES" sz="23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Bonificado.</a:t>
            </a:r>
            <a:endParaRPr lang="ie-Latn-001" sz="23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23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42" name="Google Shape;14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6800" y="6868879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/>
        </p:nvSpPr>
        <p:spPr>
          <a:xfrm>
            <a:off x="5388257" y="9957969"/>
            <a:ext cx="4147500" cy="45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0" i="0" u="none" strike="noStrike" cap="none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Recurso excedente: $</a:t>
            </a:r>
            <a:r>
              <a:rPr lang="ie-Latn-001" sz="1600" b="0" i="0" u="none" strike="noStrike" cap="none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2.190</a:t>
            </a:r>
            <a:r>
              <a:rPr lang="es-ES" sz="1600" b="0" i="0" u="none" strike="noStrike" cap="none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+ IVA</a:t>
            </a:r>
            <a:endParaRPr sz="1600" b="0" i="0" u="none" strike="noStrike" cap="none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5171228" y="9150339"/>
            <a:ext cx="3067200" cy="526532"/>
          </a:xfrm>
          <a:prstGeom prst="roundRect">
            <a:avLst>
              <a:gd name="adj" fmla="val 17480"/>
            </a:avLst>
          </a:prstGeom>
          <a:solidFill>
            <a:srgbClr val="F2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5" name="Google Shape;145;p6"/>
          <p:cNvSpPr txBox="1">
            <a:spLocks noGrp="1"/>
          </p:cNvSpPr>
          <p:nvPr>
            <p:ph type="body" idx="1"/>
          </p:nvPr>
        </p:nvSpPr>
        <p:spPr>
          <a:xfrm>
            <a:off x="11684372" y="7567907"/>
            <a:ext cx="6407700" cy="312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Soporte especial por WhatsApp por 30 días.</a:t>
            </a:r>
            <a:endParaRPr sz="2300" b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46" name="Google Shape;14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01250" y="7672379"/>
            <a:ext cx="233794" cy="241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6"/>
          <p:cNvCxnSpPr/>
          <p:nvPr/>
        </p:nvCxnSpPr>
        <p:spPr>
          <a:xfrm rot="10800000" flipH="1">
            <a:off x="4461926" y="9384096"/>
            <a:ext cx="1919743" cy="43631"/>
          </a:xfrm>
          <a:prstGeom prst="straightConnector1">
            <a:avLst/>
          </a:prstGeom>
          <a:noFill/>
          <a:ln w="19050" cap="flat" cmpd="sng">
            <a:solidFill>
              <a:srgbClr val="3AA0F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6"/>
          <p:cNvSpPr txBox="1"/>
          <p:nvPr/>
        </p:nvSpPr>
        <p:spPr>
          <a:xfrm>
            <a:off x="6542521" y="9023009"/>
            <a:ext cx="2462090" cy="614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marR="0" lvl="0" indent="0" algn="ctr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0" i="0" u="none" strike="noStrike" cap="none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$</a:t>
            </a:r>
            <a:r>
              <a:rPr lang="ie-Latn-001" sz="210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342.210 </a:t>
            </a:r>
            <a:r>
              <a:rPr lang="es-ES" sz="2100" b="0" i="0" u="none" strike="noStrike" cap="none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+ IVA</a:t>
            </a:r>
            <a:endParaRPr sz="2100" b="0" i="0" u="none" strike="noStrike" cap="none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453558" y="8201026"/>
            <a:ext cx="4960646" cy="521455"/>
          </a:xfrm>
          <a:prstGeom prst="roundRect">
            <a:avLst>
              <a:gd name="adj" fmla="val 50000"/>
            </a:avLst>
          </a:prstGeom>
          <a:solidFill>
            <a:srgbClr val="3AA0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3972142" y="8108769"/>
            <a:ext cx="3921966" cy="565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marR="0" lvl="0" indent="0" algn="ctr" rtl="0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1" i="0" u="none" strike="noStrike" cap="none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Descuento de </a:t>
            </a:r>
            <a:r>
              <a:rPr lang="ie-Latn-001" sz="2100" b="1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25</a:t>
            </a:r>
            <a:r>
              <a:rPr lang="es-ES" sz="2100" b="1" i="0" u="none" strike="noStrike" cap="none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% por</a:t>
            </a:r>
            <a:r>
              <a:rPr lang="ie-Latn-001" sz="2100" b="1" i="0" u="none" strike="noStrike" cap="none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 6</a:t>
            </a:r>
            <a:r>
              <a:rPr lang="es-ES" sz="2100" b="1" i="0" u="none" strike="noStrike" cap="none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 meses</a:t>
            </a:r>
            <a:endParaRPr sz="2100" b="0" i="0" u="none" strike="noStrike" cap="none"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539852" y="9165778"/>
            <a:ext cx="2445709" cy="435199"/>
          </a:xfrm>
          <a:prstGeom prst="roundRect">
            <a:avLst>
              <a:gd name="adj" fmla="val 25772"/>
            </a:avLst>
          </a:prstGeom>
          <a:noFill/>
          <a:ln w="19050" cap="flat" cmpd="sng">
            <a:solidFill>
              <a:srgbClr val="3AA0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2504900" y="9568696"/>
            <a:ext cx="4147500" cy="1179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>
              <a:lnSpc>
                <a:spcPct val="152380"/>
              </a:lnSpc>
              <a:buSzPts val="2100"/>
            </a:pPr>
            <a:r>
              <a:rPr lang="es-ES" sz="2100" b="1" i="0" u="none" strike="noStrike" cap="none" dirty="0">
                <a:solidFill>
                  <a:srgbClr val="001F4E"/>
                </a:solidFill>
                <a:latin typeface="Figtree"/>
                <a:ea typeface="Figtree"/>
                <a:cs typeface="Figtree"/>
                <a:sym typeface="Figtree"/>
              </a:rPr>
              <a:t>Frecuencia: </a:t>
            </a:r>
            <a:r>
              <a:rPr lang="es-ES" sz="2100" b="1" i="0" u="none" strike="noStrike" cap="none" dirty="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Mensual</a:t>
            </a:r>
            <a:r>
              <a:rPr lang="ie-Latn-001" sz="2100" b="1" i="0" u="none" strike="noStrike" cap="none" dirty="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endParaRPr lang="en-US" sz="20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0" lvl="0" indent="0" algn="l" rtl="0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1" i="0" u="none" strike="noStrike" cap="none" dirty="0">
              <a:solidFill>
                <a:srgbClr val="3AA0F8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0787651" y="8800179"/>
            <a:ext cx="7744022" cy="1801485"/>
          </a:xfrm>
          <a:prstGeom prst="roundRect">
            <a:avLst>
              <a:gd name="adj" fmla="val 10244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11251229" y="9028678"/>
            <a:ext cx="4147500" cy="60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marR="0" lvl="0" indent="0" algn="l" rtl="0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1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Valor total: </a:t>
            </a:r>
            <a:r>
              <a:rPr lang="es-ES" sz="210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Bonificado por ahora  </a:t>
            </a:r>
            <a:endParaRPr sz="210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11279687" y="9565778"/>
            <a:ext cx="4147500" cy="60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marR="0" lvl="0" indent="0" algn="l" rtl="0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ES" sz="2100" b="1" i="0" u="none" strike="noStrike" cap="none">
                <a:solidFill>
                  <a:srgbClr val="001F4E"/>
                </a:solidFill>
                <a:latin typeface="Figtree"/>
                <a:ea typeface="Figtree"/>
                <a:cs typeface="Figtree"/>
                <a:sym typeface="Figtree"/>
              </a:rPr>
              <a:t>Frecuencia: </a:t>
            </a:r>
            <a:r>
              <a:rPr lang="es-ES" sz="2100" b="1" i="0" u="none" strike="noStrike" cap="none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Única vez</a:t>
            </a:r>
            <a:endParaRPr sz="2100" b="1" i="0" u="none" strike="noStrike" cap="none">
              <a:solidFill>
                <a:srgbClr val="3AA0F8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0" y="1996550"/>
            <a:ext cx="20125500" cy="9388800"/>
          </a:xfrm>
          <a:prstGeom prst="rect">
            <a:avLst/>
          </a:prstGeom>
          <a:solidFill>
            <a:srgbClr val="E6F3FF">
              <a:alpha val="4078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1" name="Google Shape;161;p7"/>
          <p:cNvSpPr txBox="1">
            <a:spLocks noGrp="1"/>
          </p:cNvSpPr>
          <p:nvPr>
            <p:ph type="title"/>
          </p:nvPr>
        </p:nvSpPr>
        <p:spPr>
          <a:xfrm>
            <a:off x="1799875" y="599550"/>
            <a:ext cx="101931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385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Especificaciones </a:t>
            </a:r>
            <a:r>
              <a:rPr lang="es-ES" sz="385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Propuesta Naaloo</a:t>
            </a:r>
            <a:endParaRPr sz="3850">
              <a:solidFill>
                <a:srgbClr val="152F72"/>
              </a:solidFill>
            </a:endParaRPr>
          </a:p>
        </p:txBody>
      </p:sp>
      <p:sp>
        <p:nvSpPr>
          <p:cNvPr id="162" name="Google Shape;162;p7"/>
          <p:cNvSpPr txBox="1">
            <a:spLocks noGrp="1"/>
          </p:cNvSpPr>
          <p:nvPr>
            <p:ph type="body" idx="1"/>
          </p:nvPr>
        </p:nvSpPr>
        <p:spPr>
          <a:xfrm>
            <a:off x="1799875" y="2626600"/>
            <a:ext cx="6507900" cy="4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275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Todo lo que necesitas saber:</a:t>
            </a:r>
            <a:endParaRPr sz="15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1799875" y="6845550"/>
            <a:ext cx="8297700" cy="1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650" rIns="0" bIns="0" anchor="t" anchorCtr="0">
            <a:spAutoFit/>
          </a:bodyPr>
          <a:lstStyle/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Descuentos</a:t>
            </a:r>
            <a:endParaRPr sz="2000" b="1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00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Obtén un 10% de descuento en tu presupuesto al adherirte al débito automático con tarjeta de crédito en cada pago.</a:t>
            </a:r>
            <a:endParaRPr sz="1800" b="1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11141387" y="5144586"/>
            <a:ext cx="7927800" cy="13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650" rIns="0" bIns="0" anchor="t" anchorCtr="0">
            <a:spAutoFit/>
          </a:bodyPr>
          <a:lstStyle/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Cuentas Asociadas</a:t>
            </a:r>
            <a:endParaRPr sz="2000" b="1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Esta propuesta aplica exclusivamente a la vinculación de una única Razón Social.</a:t>
            </a:r>
            <a:endParaRPr sz="200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5" name="Google Shape;165;p7"/>
          <p:cNvSpPr txBox="1">
            <a:spLocks noGrp="1"/>
          </p:cNvSpPr>
          <p:nvPr>
            <p:ph type="body" idx="1"/>
          </p:nvPr>
        </p:nvSpPr>
        <p:spPr>
          <a:xfrm>
            <a:off x="1799875" y="3601825"/>
            <a:ext cx="8117848" cy="2847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Facturación</a:t>
            </a:r>
            <a:endParaRPr sz="2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La factura por el costo de implementación se emitirá una vez aceptada la propuesta y activada la cuenta. Para avanzar con el proceso, el pago deberá realizarse dentro de las 48 horas.</a:t>
            </a:r>
            <a:endParaRPr sz="2000" b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La primera factura de la licencia mensual se emitirá dentro de los 5 días posteriores a la finalización de la implementación o al cumplirse 30 días desde su inicio, lo que ocurra primero. El pago deberá realizarse dentro de los 5 días  siguientes desde su emisión.</a:t>
            </a:r>
            <a:endParaRPr sz="1800" b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1799875" y="8400650"/>
            <a:ext cx="8297700" cy="1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650" rIns="0" bIns="0" anchor="t" anchorCtr="0">
            <a:spAutoFit/>
          </a:bodyPr>
          <a:lstStyle/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000" b="1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Impuestos / Moneda</a:t>
            </a:r>
            <a:endParaRPr sz="2000" b="1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00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Los valores presupuestados no incluyen IVA y la moneda de pago es pesos argentinos.</a:t>
            </a:r>
            <a:endParaRPr sz="1800" b="1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11141387" y="3601825"/>
            <a:ext cx="8134639" cy="109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650" rIns="0" bIns="0" anchor="t" anchorCtr="0">
            <a:spAutoFit/>
          </a:bodyPr>
          <a:lstStyle/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000" b="1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Plazo de Vigencia</a:t>
            </a:r>
            <a:endParaRPr sz="2000" b="1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00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El plazo de validez de esta propuesta es de 15 días a partir de su emisión.</a:t>
            </a:r>
            <a:endParaRPr sz="1800" b="1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11141387" y="6748100"/>
            <a:ext cx="7927800" cy="17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650" rIns="0" bIns="0" anchor="t" anchorCtr="0">
            <a:spAutoFit/>
          </a:bodyPr>
          <a:lstStyle/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Actualización de Tarifas</a:t>
            </a:r>
            <a:endParaRPr sz="2000" b="1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00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Los valores se actualizarán trimestralmente en marzo, junio, septiembre y diciembre, según la variación del IPC publicado por el INDEC. La aplicación será automática e independiente de la fecha de alta, ajustándose proporcionalmente según el período transcurrido.</a:t>
            </a:r>
            <a:endParaRPr sz="1800" b="1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69" name="Google Shape;16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39067" y="708900"/>
            <a:ext cx="1636959" cy="47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7"/>
          <p:cNvGrpSpPr/>
          <p:nvPr/>
        </p:nvGrpSpPr>
        <p:grpSpPr>
          <a:xfrm>
            <a:off x="-24895" y="-159500"/>
            <a:ext cx="842746" cy="11474140"/>
            <a:chOff x="-24895" y="-159500"/>
            <a:chExt cx="842746" cy="11474140"/>
          </a:xfrm>
        </p:grpSpPr>
        <p:pic>
          <p:nvPicPr>
            <p:cNvPr id="171" name="Google Shape;171;p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5289"/>
              <a:ext cx="817851" cy="11309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7"/>
            <p:cNvSpPr txBox="1"/>
            <p:nvPr/>
          </p:nvSpPr>
          <p:spPr>
            <a:xfrm>
              <a:off x="-24895" y="10211350"/>
              <a:ext cx="817800" cy="94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ES" sz="2000" b="0" i="0" u="none" strike="noStrike" cap="none">
                  <a:solidFill>
                    <a:srgbClr val="152F72"/>
                  </a:solidFill>
                  <a:latin typeface="Figtree SemiBold"/>
                  <a:ea typeface="Figtree SemiBold"/>
                  <a:cs typeface="Figtree SemiBold"/>
                  <a:sym typeface="Figtree SemiBold"/>
                </a:rPr>
                <a:t> 07</a:t>
              </a:r>
              <a:endParaRPr sz="2000" b="0" i="0" u="none" strike="noStrike" cap="non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73" name="Google Shape;173;p7"/>
            <p:cNvSpPr txBox="1"/>
            <p:nvPr/>
          </p:nvSpPr>
          <p:spPr>
            <a:xfrm rot="-5400000">
              <a:off x="-1116425" y="1021450"/>
              <a:ext cx="3050700" cy="68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s-ES" sz="2200" b="0" i="0" u="none" strike="noStrike" cap="none">
                  <a:solidFill>
                    <a:srgbClr val="3AA0F8"/>
                  </a:solidFill>
                  <a:latin typeface="Figtree SemiBold"/>
                  <a:ea typeface="Figtree SemiBold"/>
                  <a:cs typeface="Figtree SemiBold"/>
                  <a:sym typeface="Figtree SemiBold"/>
                </a:rPr>
                <a:t>Propuesta Naaloo</a:t>
              </a:r>
              <a:endParaRPr sz="2200" b="0" i="0" u="none" strike="noStrike" cap="non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8"/>
          <p:cNvPicPr preferRelativeResize="0"/>
          <p:nvPr/>
        </p:nvPicPr>
        <p:blipFill rotWithShape="1">
          <a:blip r:embed="rId3">
            <a:alphaModFix amt="66000"/>
          </a:blip>
          <a:srcRect/>
          <a:stretch/>
        </p:blipFill>
        <p:spPr>
          <a:xfrm rot="10800000">
            <a:off x="457202" y="-401"/>
            <a:ext cx="19646898" cy="1131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 txBox="1"/>
          <p:nvPr/>
        </p:nvSpPr>
        <p:spPr>
          <a:xfrm>
            <a:off x="2477150" y="3635219"/>
            <a:ext cx="4515600" cy="202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925" rIns="0" bIns="0" anchor="t" anchorCtr="0">
            <a:spAutoFit/>
          </a:bodyPr>
          <a:lstStyle/>
          <a:p>
            <a:pPr marL="12700" marR="5080" lvl="0" indent="0" algn="l" rtl="0">
              <a:lnSpc>
                <a:spcPct val="103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lang="es-ES" sz="6800" b="1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Tu camino con </a:t>
            </a:r>
            <a:r>
              <a:rPr lang="es-ES" sz="6800" b="1" i="0" u="none" strike="noStrike" cap="none">
                <a:solidFill>
                  <a:srgbClr val="379FF8"/>
                </a:solidFill>
                <a:latin typeface="Figtree"/>
                <a:ea typeface="Figtree"/>
                <a:cs typeface="Figtree"/>
                <a:sym typeface="Figtree"/>
              </a:rPr>
              <a:t>Naaloo</a:t>
            </a:r>
            <a:endParaRPr sz="6800" b="0" i="0" u="none" strike="noStrike" cap="non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2477150" y="6110329"/>
            <a:ext cx="5048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s-ES" sz="370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Timeline de implementación</a:t>
            </a:r>
            <a:endParaRPr sz="370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81" name="Google Shape;18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25" y="-88500"/>
            <a:ext cx="817850" cy="1139824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 txBox="1"/>
          <p:nvPr/>
        </p:nvSpPr>
        <p:spPr>
          <a:xfrm>
            <a:off x="-27420" y="1018888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08</a:t>
            </a:r>
            <a:endParaRPr sz="2000" b="0" i="0" u="none" strike="noStrike" cap="non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83" name="Google Shape;183;p8"/>
          <p:cNvSpPr txBox="1"/>
          <p:nvPr/>
        </p:nvSpPr>
        <p:spPr>
          <a:xfrm rot="-5400000">
            <a:off x="-1058900" y="888700"/>
            <a:ext cx="2951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 b="0" i="0" u="none" strike="noStrike" cap="non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Implementación</a:t>
            </a:r>
            <a:endParaRPr sz="2200" b="0" i="0" u="none" strike="noStrike" cap="non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8599516" y="-88500"/>
            <a:ext cx="13028948" cy="114867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 txBox="1">
            <a:spLocks noGrp="1"/>
          </p:cNvSpPr>
          <p:nvPr>
            <p:ph type="title"/>
          </p:nvPr>
        </p:nvSpPr>
        <p:spPr>
          <a:xfrm>
            <a:off x="1708772" y="1286350"/>
            <a:ext cx="82473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Te acompañamos en </a:t>
            </a:r>
            <a:r>
              <a:rPr lang="es-ES" sz="400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cada paso</a:t>
            </a:r>
            <a:endParaRPr sz="4000">
              <a:solidFill>
                <a:srgbClr val="379DF6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90" name="Google Shape;19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59500"/>
            <a:ext cx="817850" cy="114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"/>
          <p:cNvSpPr txBox="1"/>
          <p:nvPr/>
        </p:nvSpPr>
        <p:spPr>
          <a:xfrm>
            <a:off x="10275" y="10193765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09</a:t>
            </a:r>
            <a:endParaRPr sz="2000" b="0" i="0" u="none" strike="noStrike" cap="non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92" name="Google Shape;192;p9"/>
          <p:cNvSpPr txBox="1"/>
          <p:nvPr/>
        </p:nvSpPr>
        <p:spPr>
          <a:xfrm rot="-5400000">
            <a:off x="-1116425" y="308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 b="0" i="0" u="none" strike="noStrike" cap="non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Propuesta</a:t>
            </a:r>
            <a:endParaRPr sz="2200" b="0" i="0" u="none" strike="noStrike" cap="non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193" name="Google Shape;19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80917" y="1318500"/>
            <a:ext cx="1636959" cy="4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08775" y="3423862"/>
            <a:ext cx="5539377" cy="6382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94136" y="3418388"/>
            <a:ext cx="5539377" cy="6393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679498" y="3418388"/>
            <a:ext cx="5539377" cy="6393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/>
          <p:nvPr/>
        </p:nvSpPr>
        <p:spPr>
          <a:xfrm>
            <a:off x="-50" y="-83250"/>
            <a:ext cx="20104200" cy="11468700"/>
          </a:xfrm>
          <a:prstGeom prst="rect">
            <a:avLst/>
          </a:prstGeom>
          <a:solidFill>
            <a:srgbClr val="E6F3FF">
              <a:alpha val="4078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2" name="Google Shape;202;p10"/>
          <p:cNvSpPr txBox="1">
            <a:spLocks noGrp="1"/>
          </p:cNvSpPr>
          <p:nvPr>
            <p:ph type="title"/>
          </p:nvPr>
        </p:nvSpPr>
        <p:spPr>
          <a:xfrm>
            <a:off x="1697576" y="1687750"/>
            <a:ext cx="8537400" cy="14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025" rIns="0" bIns="0" anchor="t" anchorCtr="0">
            <a:spAutoFit/>
          </a:bodyPr>
          <a:lstStyle/>
          <a:p>
            <a:pPr marL="12700" marR="5080" lvl="0" indent="0" algn="l" rtl="0">
              <a:lnSpc>
                <a:spcPct val="10391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1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¡Sumarte tiene un </a:t>
            </a:r>
            <a:r>
              <a:rPr lang="es-ES" sz="4100">
                <a:solidFill>
                  <a:srgbClr val="379FF8"/>
                </a:solidFill>
                <a:latin typeface="Figtree"/>
                <a:ea typeface="Figtree"/>
                <a:cs typeface="Figtree"/>
                <a:sym typeface="Figtree"/>
              </a:rPr>
              <a:t>impacto </a:t>
            </a:r>
            <a:endParaRPr sz="4100">
              <a:solidFill>
                <a:srgbClr val="379FF8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ct val="10391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4100">
                <a:solidFill>
                  <a:srgbClr val="379FF8"/>
                </a:solidFill>
                <a:latin typeface="Figtree"/>
                <a:ea typeface="Figtree"/>
                <a:cs typeface="Figtree"/>
                <a:sym typeface="Figtree"/>
              </a:rPr>
              <a:t>positivo</a:t>
            </a:r>
            <a:r>
              <a:rPr lang="es-ES" sz="41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para el mundo!</a:t>
            </a:r>
            <a:endParaRPr sz="41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10770610" y="1792227"/>
            <a:ext cx="8505300" cy="15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 b="0" i="0" u="none" strike="noStrike" cap="none">
                <a:solidFill>
                  <a:srgbClr val="152F72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Sabemos que no solo quieres mejorar a tu equipo, quieres cambiar el planeta y Naaloo lo lleva en su ADN. Por eso, cuando te unes a nuestra comunidad, estás haciendo mucho más que mejorar tu gestión. ¡Mira!</a:t>
            </a:r>
            <a:endParaRPr sz="2200" b="0" i="0" u="none" strike="noStrike" cap="none">
              <a:solidFill>
                <a:srgbClr val="152F72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204" name="Google Shape;20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8000" y="4073836"/>
            <a:ext cx="8575896" cy="6470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00052" y="4073836"/>
            <a:ext cx="8575896" cy="6470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41915"/>
            <a:ext cx="817850" cy="114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0"/>
          <p:cNvSpPr txBox="1"/>
          <p:nvPr/>
        </p:nvSpPr>
        <p:spPr>
          <a:xfrm>
            <a:off x="-35445" y="1021135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10</a:t>
            </a:r>
            <a:endParaRPr sz="2000" b="0" i="0" u="none" strike="noStrike" cap="non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 rot="-5400000">
            <a:off x="-1116425" y="6404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 b="0" i="0" u="none" strike="noStrike" cap="non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Bosque Naaloo</a:t>
            </a:r>
            <a:endParaRPr sz="2200" b="0" i="0" u="none" strike="noStrike" cap="non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209" name="Google Shape;209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73775" y="785100"/>
            <a:ext cx="1541925" cy="4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06" y="0"/>
            <a:ext cx="20105512" cy="1130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 txBox="1">
            <a:spLocks noGrp="1"/>
          </p:cNvSpPr>
          <p:nvPr>
            <p:ph type="title"/>
          </p:nvPr>
        </p:nvSpPr>
        <p:spPr>
          <a:xfrm>
            <a:off x="2043215" y="976718"/>
            <a:ext cx="5169408" cy="962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882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34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Tu experiencia es nuestra </a:t>
            </a:r>
            <a:r>
              <a:rPr lang="es-ES" sz="340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prioridad</a:t>
            </a:r>
            <a:endParaRPr sz="3400">
              <a:solidFill>
                <a:srgbClr val="3AA0F8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20" name="Google Shape;22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59500"/>
            <a:ext cx="817850" cy="114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2"/>
          <p:cNvSpPr txBox="1"/>
          <p:nvPr/>
        </p:nvSpPr>
        <p:spPr>
          <a:xfrm>
            <a:off x="-35445" y="1021135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0" i="0" u="none" strike="noStrike" cap="none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12</a:t>
            </a:r>
            <a:endParaRPr sz="2000" b="0" i="0" u="none" strike="noStrike" cap="none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2" name="Google Shape;222;p12"/>
          <p:cNvSpPr txBox="1"/>
          <p:nvPr/>
        </p:nvSpPr>
        <p:spPr>
          <a:xfrm rot="-5400000">
            <a:off x="-1116425" y="10214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ES" sz="2200" b="0" i="0" u="none" strike="noStrike" cap="none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Nuestros clientes</a:t>
            </a:r>
            <a:endParaRPr sz="2200" b="0" i="0" u="none" strike="noStrike" cap="none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11600168" y="995768"/>
            <a:ext cx="6116332" cy="963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0" marR="0" lvl="0" indent="0" algn="l" rtl="0">
              <a:lnSpc>
                <a:spcPct val="1088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s-ES" sz="3400" b="1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Nuestros usuarios recomiendan</a:t>
            </a:r>
            <a:r>
              <a:rPr lang="es-ES" sz="3400" b="1" i="0" u="none" strike="noStrike" cap="none">
                <a:solidFill>
                  <a:srgbClr val="151515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3400" b="1" i="0" u="none" strike="noStrike" cap="none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Naaloo</a:t>
            </a:r>
            <a:endParaRPr sz="3400" b="0" i="0" u="none" strike="noStrike" cap="none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1876503" y="10552973"/>
            <a:ext cx="81343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>
                <a:solidFill>
                  <a:srgbClr val="001F4E"/>
                </a:solidFill>
                <a:latin typeface="Figtree"/>
                <a:ea typeface="Figtree"/>
                <a:cs typeface="Figtree"/>
                <a:sym typeface="Figtree"/>
              </a:rPr>
              <a:t>Fuente: Encuesta anual de satisfacción Naaloo 2025.</a:t>
            </a:r>
            <a:endParaRPr sz="1600" b="0" i="0" u="none" strike="noStrike" cap="none">
              <a:solidFill>
                <a:srgbClr val="001F4E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25" name="Google Shape;22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72875" y="2614124"/>
            <a:ext cx="2581462" cy="3496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04059" y="2596539"/>
            <a:ext cx="2756303" cy="382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72876" y="7027375"/>
            <a:ext cx="7631256" cy="2715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600168" y="6115726"/>
            <a:ext cx="7104002" cy="3905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81838" y="2438399"/>
            <a:ext cx="5908310" cy="2876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/>
          <p:nvPr/>
        </p:nvSpPr>
        <p:spPr>
          <a:xfrm>
            <a:off x="9158600" y="-112850"/>
            <a:ext cx="10945500" cy="11422200"/>
          </a:xfrm>
          <a:prstGeom prst="rect">
            <a:avLst/>
          </a:prstGeom>
          <a:solidFill>
            <a:srgbClr val="E6F3FF">
              <a:alpha val="40784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5" name="Google Shape;235;p13"/>
          <p:cNvSpPr txBox="1">
            <a:spLocks noGrp="1"/>
          </p:cNvSpPr>
          <p:nvPr>
            <p:ph type="title"/>
          </p:nvPr>
        </p:nvSpPr>
        <p:spPr>
          <a:xfrm>
            <a:off x="1625775" y="2125300"/>
            <a:ext cx="6102600" cy="141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325" rIns="0" bIns="0" anchor="t" anchorCtr="0">
            <a:spAutoFit/>
          </a:bodyPr>
          <a:lstStyle/>
          <a:p>
            <a:pPr marL="12700" marR="5080" lvl="0" indent="0" algn="l" rtl="0">
              <a:lnSpc>
                <a:spcPct val="105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500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Desbloquea</a:t>
            </a:r>
            <a:r>
              <a:rPr lang="es-ES" sz="50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el siguiente nivel</a:t>
            </a:r>
            <a:endParaRPr sz="50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36" name="Google Shape;236;p13"/>
          <p:cNvSpPr txBox="1"/>
          <p:nvPr/>
        </p:nvSpPr>
        <p:spPr>
          <a:xfrm>
            <a:off x="1632900" y="4040925"/>
            <a:ext cx="5821500" cy="28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975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b="0" i="0" u="none" strike="noStrike" cap="none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Estamos listos para acompañarte en esta transformación. Solo necesitamos tu OK, y nuestro equipo se encargará de que la implementación sea simple y efectiva desde el primer día.</a:t>
            </a:r>
            <a:endParaRPr sz="260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ct val="11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37" name="Google Shape;23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3713" y="8928750"/>
            <a:ext cx="34194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3725" y="7170148"/>
            <a:ext cx="2832500" cy="7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90075" y="-1553674"/>
            <a:ext cx="7820751" cy="1441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51515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14944</TotalTime>
  <Words>768</Words>
  <Application>Microsoft Office PowerPoint</Application>
  <PresentationFormat>Personalizado</PresentationFormat>
  <Paragraphs>106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Figtree</vt:lpstr>
      <vt:lpstr>Figtree Medium</vt:lpstr>
      <vt:lpstr>Figtree SemiBold</vt:lpstr>
      <vt:lpstr>Trebuchet MS</vt:lpstr>
      <vt:lpstr>Arial</vt:lpstr>
      <vt:lpstr>Office Theme</vt:lpstr>
      <vt:lpstr>Presentación de PowerPoint</vt:lpstr>
      <vt:lpstr>Presentación de PowerPoint</vt:lpstr>
      <vt:lpstr>Qué beneficios vamos a ofrecer</vt:lpstr>
      <vt:lpstr>¡Naaloo en números! Beneficios medibles</vt:lpstr>
      <vt:lpstr>Funcionalidades incluidas</vt:lpstr>
      <vt:lpstr>Propuesta Naaloo</vt:lpstr>
      <vt:lpstr>Especificaciones Propuesta Naaloo</vt:lpstr>
      <vt:lpstr>Presentación de PowerPoint</vt:lpstr>
      <vt:lpstr>Te acompañamos en cada paso</vt:lpstr>
      <vt:lpstr>¡Sumarte tiene un impacto  positivo para el mundo!</vt:lpstr>
      <vt:lpstr>Presentación de PowerPoint</vt:lpstr>
      <vt:lpstr>Tu experiencia es nuestra prioridad</vt:lpstr>
      <vt:lpstr>Desbloquea el siguiente nivel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Usuario</dc:creator>
  <cp:lastModifiedBy>xx Bahia</cp:lastModifiedBy>
  <cp:revision>1</cp:revision>
  <dcterms:modified xsi:type="dcterms:W3CDTF">2026-04-14T13:16:53Z</dcterms:modified>
</cp:coreProperties>
</file>